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E838"/>
    <a:srgbClr val="E63946"/>
    <a:srgbClr val="00CC76"/>
    <a:srgbClr val="DE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6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E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BF6-457D-A62C-0858C2DD3E50}"/>
              </c:ext>
            </c:extLst>
          </c:dPt>
          <c:dPt>
            <c:idx val="1"/>
            <c:bubble3D val="0"/>
            <c:explosion val="19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BF6-457D-A62C-0858C2DD3E50}"/>
              </c:ext>
            </c:extLst>
          </c:dPt>
          <c:dPt>
            <c:idx val="2"/>
            <c:bubble3D val="0"/>
            <c:explosion val="17"/>
            <c:spPr>
              <a:solidFill>
                <a:schemeClr val="accent4">
                  <a:lumMod val="60000"/>
                  <a:lumOff val="40000"/>
                </a:schemeClr>
              </a:solidFill>
              <a:ln w="9525" cap="flat">
                <a:noFill/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8345-47D6-AAAD-B56B4731354D}"/>
              </c:ext>
            </c:extLst>
          </c:dPt>
          <c:cat>
            <c:strRef>
              <c:f>Sheet1!$A$2:$A$4</c:f>
              <c:strCache>
                <c:ptCount val="3"/>
                <c:pt idx="0">
                  <c:v>Passed</c:v>
                </c:pt>
                <c:pt idx="1">
                  <c:v>Failed</c:v>
                </c:pt>
                <c:pt idx="2">
                  <c:v>Blocked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178</c:v>
                </c:pt>
                <c:pt idx="1">
                  <c:v>7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BF6-457D-A62C-0858C2DD3E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/>
          <a:lstStyle/>
          <a:p>
            <a:pPr>
              <a:defRPr sz="1000">
                <a:solidFill>
                  <a:srgbClr val="00B050"/>
                </a:solidFill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sz="1000">
                <a:solidFill>
                  <a:srgbClr val="C00000"/>
                </a:solidFill>
              </a:defRPr>
            </a:pPr>
            <a:endParaRPr lang="en-US"/>
          </a:p>
        </c:txPr>
      </c:legendEntry>
      <c:legendEntry>
        <c:idx val="2"/>
        <c:txPr>
          <a:bodyPr/>
          <a:lstStyle/>
          <a:p>
            <a:pPr>
              <a:defRPr sz="1000" baseline="0">
                <a:solidFill>
                  <a:schemeClr val="accent4">
                    <a:lumMod val="60000"/>
                    <a:lumOff val="40000"/>
                  </a:schemeClr>
                </a:solidFill>
              </a:defRPr>
            </a:pPr>
            <a:endParaRPr lang="en-US"/>
          </a:p>
        </c:txPr>
      </c:legendEntry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Results</c:v>
                </c:pt>
              </c:strCache>
            </c:strRef>
          </c:tx>
          <c:spPr>
            <a:solidFill>
              <a:srgbClr val="00E67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B2E-4AE9-AFA4-1B6F51D2C955}"/>
              </c:ext>
            </c:extLst>
          </c:dPt>
          <c:dPt>
            <c:idx val="1"/>
            <c:invertIfNegative val="0"/>
            <c:bubble3D val="0"/>
            <c:spPr>
              <a:solidFill>
                <a:srgbClr val="FF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2E-4AE9-AFA4-1B6F51D2C955}"/>
              </c:ext>
            </c:extLst>
          </c:dPt>
          <c:dPt>
            <c:idx val="2"/>
            <c:invertIfNegative val="0"/>
            <c:bubble3D val="0"/>
            <c:spPr>
              <a:solidFill>
                <a:srgbClr val="FFB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2E-4AE9-AFA4-1B6F51D2C95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1F5F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Passed</c:v>
                </c:pt>
                <c:pt idx="1">
                  <c:v>Failed</c:v>
                </c:pt>
                <c:pt idx="2">
                  <c:v>Blocked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178</c:v>
                </c:pt>
                <c:pt idx="1">
                  <c:v>7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2E-4AE9-AFA4-1B6F51D2C9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Pass/Fail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E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8FC-4C36-872A-0319713CEDE8}"/>
              </c:ext>
            </c:extLst>
          </c:dPt>
          <c:dPt>
            <c:idx val="1"/>
            <c:bubble3D val="0"/>
            <c:spPr>
              <a:solidFill>
                <a:srgbClr val="FF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FC-4C36-872A-0319713CEDE8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9525" cap="flat">
                <a:solidFill>
                  <a:srgbClr val="F9F9F9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3906-4ABF-AE99-F3E762D53A18}"/>
              </c:ext>
            </c:extLst>
          </c:dPt>
          <c:cat>
            <c:strRef>
              <c:f>Sheet1!$A$2:$A$4</c:f>
              <c:strCache>
                <c:ptCount val="3"/>
                <c:pt idx="0">
                  <c:v>Passed</c:v>
                </c:pt>
                <c:pt idx="1">
                  <c:v>Failed </c:v>
                </c:pt>
                <c:pt idx="2">
                  <c:v>Blocked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178</c:v>
                </c:pt>
                <c:pt idx="1">
                  <c:v>7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8FC-4C36-872A-0319713CED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1000">
                <a:solidFill>
                  <a:srgbClr val="45E838"/>
                </a:solidFill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sz="1000">
                <a:solidFill>
                  <a:srgbClr val="E63946"/>
                </a:solidFill>
              </a:defRPr>
            </a:pPr>
            <a:endParaRPr lang="en-US"/>
          </a:p>
        </c:txPr>
      </c:legendEntry>
      <c:legendEntry>
        <c:idx val="2"/>
        <c:txPr>
          <a:bodyPr/>
          <a:lstStyle/>
          <a:p>
            <a:pPr>
              <a:defRPr sz="1000">
                <a:solidFill>
                  <a:srgbClr val="FFC000"/>
                </a:solidFill>
              </a:defRPr>
            </a:pPr>
            <a:endParaRPr lang="en-US"/>
          </a:p>
        </c:txPr>
      </c:legendEntry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2413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548640"/>
            <a:ext cx="2560320" cy="256032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-182880"/>
            <a:ext cx="1463040" cy="146304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457200" y="3840480"/>
            <a:ext cx="2011680" cy="2011680"/>
          </a:xfrm>
          <a:prstGeom prst="ellipse">
            <a:avLst/>
          </a:prstGeom>
          <a:solidFill>
            <a:srgbClr val="4FC3F7">
              <a:alpha val="12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4114800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 — Information Technology Colleague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14400" y="658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رواد مصر الرقمية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10515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kern="0" spc="2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</a:t>
            </a:r>
            <a:endParaRPr lang="en-US" sz="5800" dirty="0"/>
          </a:p>
        </p:txBody>
      </p:sp>
      <p:sp>
        <p:nvSpPr>
          <p:cNvPr id="12" name="Text 8"/>
          <p:cNvSpPr/>
          <p:nvPr/>
        </p:nvSpPr>
        <p:spPr>
          <a:xfrm>
            <a:off x="548640" y="175564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kern="0" spc="2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5800" dirty="0"/>
          </a:p>
        </p:txBody>
      </p:sp>
      <p:sp>
        <p:nvSpPr>
          <p:cNvPr id="13" name="Text 9"/>
          <p:cNvSpPr/>
          <p:nvPr/>
        </p:nvSpPr>
        <p:spPr>
          <a:xfrm>
            <a:off x="548640" y="2651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 •  Modern  •  Premium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187952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48640" y="4187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651760" y="4187952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2651760" y="4187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Engineering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54880" y="4187952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754880" y="4187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903720" y="4069080"/>
            <a:ext cx="2148840" cy="621792"/>
          </a:xfrm>
          <a:prstGeom prst="roundRect">
            <a:avLst>
              <a:gd name="adj" fmla="val 11765"/>
            </a:avLst>
          </a:prstGeom>
          <a:solidFill>
            <a:srgbClr val="6C63FF">
              <a:alpha val="85000"/>
            </a:srgbClr>
          </a:solidFill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903720" y="408736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CAI4_SWD6_S6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903720" y="439826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شكر وتقدير لإدارة المبادرة  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ولشركة ITC الشركة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المنفذة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لتراك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Software testing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178676"/>
            <a:ext cx="2926080" cy="4964823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182880" y="562356"/>
            <a:ext cx="256032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18288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182880" y="1417320"/>
            <a:ext cx="2377440" cy="0"/>
          </a:xfrm>
          <a:prstGeom prst="line">
            <a:avLst/>
          </a:prstGeom>
          <a:noFill/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64592" y="1600200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201168" y="1600200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64592" y="2112264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0F1526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01168" y="2112264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Project Overview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64592" y="2624328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0F1526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01168" y="2624328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Testing Challenges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64592" y="3136392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0F1526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01168" y="3136392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QA Approach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64592" y="3648456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0F1526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201168" y="3648456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Test Coverage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64592" y="4160520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0F1526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201168" y="4160520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Conclusion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200400" y="457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3200400" y="960120"/>
            <a:ext cx="54864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200400" y="11430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rtl="1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"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يستعرض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هذا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العرض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مشروع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اختبار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الجودة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الخاص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بمنصة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Booking.com،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بدءًا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من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تحديات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الاختبار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ومرورًا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بالمنهجية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المتبعة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وتنفيذ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حالات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الاختبار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اليدوية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والآلية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،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وصولًا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إلى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النتائج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النهائية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عبر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١٧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وحدة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وظيفية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."</a:t>
            </a:r>
            <a:endParaRPr lang="en-US" sz="13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Shape 20"/>
          <p:cNvSpPr/>
          <p:nvPr/>
        </p:nvSpPr>
        <p:spPr>
          <a:xfrm>
            <a:off x="3200400" y="237744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141B2D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200400" y="2468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</a:t>
            </a:r>
            <a:endParaRPr lang="en-US" sz="3000" dirty="0"/>
          </a:p>
        </p:txBody>
      </p:sp>
      <p:sp>
        <p:nvSpPr>
          <p:cNvPr id="26" name="Text 22"/>
          <p:cNvSpPr/>
          <p:nvPr/>
        </p:nvSpPr>
        <p:spPr>
          <a:xfrm>
            <a:off x="3200400" y="3063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663440" y="237744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141B2D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663440" y="2468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3000" dirty="0"/>
          </a:p>
        </p:txBody>
      </p:sp>
      <p:sp>
        <p:nvSpPr>
          <p:cNvPr id="29" name="Text 25"/>
          <p:cNvSpPr/>
          <p:nvPr/>
        </p:nvSpPr>
        <p:spPr>
          <a:xfrm>
            <a:off x="4663440" y="3063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126480" y="237744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141B2D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6126480" y="2468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32" name="Text 28"/>
          <p:cNvSpPr/>
          <p:nvPr/>
        </p:nvSpPr>
        <p:spPr>
          <a:xfrm>
            <a:off x="6126480" y="3063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7589520" y="237744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141B2D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7589520" y="2468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000" dirty="0"/>
          </a:p>
        </p:txBody>
      </p:sp>
      <p:sp>
        <p:nvSpPr>
          <p:cNvPr id="35" name="Text 31"/>
          <p:cNvSpPr/>
          <p:nvPr/>
        </p:nvSpPr>
        <p:spPr>
          <a:xfrm>
            <a:off x="7589520" y="3063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</a:p>
          <a:p>
            <a:pPr marL="0" indent="0" algn="ctr">
              <a:buNone/>
            </a:pPr>
            <a:endParaRPr lang="en-US" sz="1000" dirty="0"/>
          </a:p>
        </p:txBody>
      </p:sp>
      <p:graphicFrame>
        <p:nvGraphicFramePr>
          <p:cNvPr id="36" name="Chart 0"/>
          <p:cNvGraphicFramePr/>
          <p:nvPr>
            <p:extLst>
              <p:ext uri="{D42A27DB-BD31-4B8C-83A1-F6EECF244321}">
                <p14:modId xmlns:p14="http://schemas.microsoft.com/office/powerpoint/2010/main" val="1650415166"/>
              </p:ext>
            </p:extLst>
          </p:nvPr>
        </p:nvGraphicFramePr>
        <p:xfrm>
          <a:off x="3200400" y="3657600"/>
          <a:ext cx="566928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567558" y="0"/>
            <a:ext cx="8576441" cy="100584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932688" y="137160"/>
            <a:ext cx="4919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932688" y="621792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· Tech Stack · Supervisor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657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74320" y="1554480"/>
            <a:ext cx="2368456" cy="772668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84048" y="1783080"/>
            <a:ext cx="394743" cy="386334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84048" y="1783080"/>
            <a:ext cx="394743" cy="386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32688" y="1664208"/>
            <a:ext cx="1736868" cy="293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ar-EG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ملك أنور</a:t>
            </a:r>
            <a:endParaRPr lang="en-US" sz="1300" b="1" dirty="0">
              <a:solidFill>
                <a:srgbClr val="F1F5F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932688" y="2011680"/>
            <a:ext cx="1736868" cy="2472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0" y="1554480"/>
            <a:ext cx="2368456" cy="772668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310128" y="1783080"/>
            <a:ext cx="394743" cy="386334"/>
          </a:xfrm>
          <a:prstGeom prst="ellipse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310128" y="1783080"/>
            <a:ext cx="394743" cy="386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858768" y="1664208"/>
            <a:ext cx="1736868" cy="293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ar-EG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بسمة مصطفي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858768" y="2011680"/>
            <a:ext cx="1736868" cy="2472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74320" y="2482596"/>
            <a:ext cx="2368456" cy="772668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384048" y="2711196"/>
            <a:ext cx="394743" cy="386334"/>
          </a:xfrm>
          <a:prstGeom prst="ellipse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84048" y="2711196"/>
            <a:ext cx="394743" cy="386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932688" y="2592324"/>
            <a:ext cx="1736868" cy="293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ar-EG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زياد عبدالدايم</a:t>
            </a:r>
            <a:endParaRPr lang="en-US" sz="1300" b="1" dirty="0">
              <a:solidFill>
                <a:srgbClr val="F1F5F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932688" y="2939796"/>
            <a:ext cx="1736868" cy="2472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200400" y="2482596"/>
            <a:ext cx="2368456" cy="772668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3310128" y="2711196"/>
            <a:ext cx="394743" cy="386334"/>
          </a:xfrm>
          <a:prstGeom prst="ellipse">
            <a:avLst/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310128" y="2711196"/>
            <a:ext cx="394743" cy="386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3858768" y="2592324"/>
            <a:ext cx="1736868" cy="293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ar-EG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نوران محمد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3858768" y="2939796"/>
            <a:ext cx="1736868" cy="2472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70844" y="3386709"/>
            <a:ext cx="2368456" cy="772668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Shape 26"/>
          <p:cNvSpPr/>
          <p:nvPr/>
        </p:nvSpPr>
        <p:spPr>
          <a:xfrm>
            <a:off x="380572" y="3615309"/>
            <a:ext cx="394743" cy="386334"/>
          </a:xfrm>
          <a:prstGeom prst="ellipse">
            <a:avLst/>
          </a:prstGeom>
          <a:solidFill>
            <a:srgbClr val="FF5252">
              <a:alpha val="80000"/>
            </a:srgbClr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380572" y="3615309"/>
            <a:ext cx="394743" cy="386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929212" y="3496437"/>
            <a:ext cx="1736868" cy="293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ar-EG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كريم ناصر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929212" y="3843909"/>
            <a:ext cx="1736868" cy="2472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126480" y="114300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br>
              <a:rPr lang="en-US" dirty="0"/>
            </a:br>
            <a:r>
              <a:rPr lang="en-US" dirty="0"/>
              <a:t>  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 QA testing</a:t>
            </a:r>
          </a:p>
        </p:txBody>
      </p:sp>
      <p:sp>
        <p:nvSpPr>
          <p:cNvPr id="35" name="Text 31"/>
          <p:cNvSpPr/>
          <p:nvPr/>
        </p:nvSpPr>
        <p:spPr>
          <a:xfrm>
            <a:off x="6263640" y="12161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263640" y="14904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6126480" y="219456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6263640" y="22677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263640" y="25420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· Java · TestNG · Postman ·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Mailsaur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Excel</a:t>
            </a:r>
          </a:p>
        </p:txBody>
      </p:sp>
      <p:sp>
        <p:nvSpPr>
          <p:cNvPr id="40" name="Shape 36"/>
          <p:cNvSpPr/>
          <p:nvPr/>
        </p:nvSpPr>
        <p:spPr>
          <a:xfrm>
            <a:off x="6126480" y="324612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6263640" y="3319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263640" y="35935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EG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سيف المصري</a:t>
            </a:r>
            <a:endParaRPr lang="en-US" sz="1200" dirty="0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E6D9E188-012A-6862-1C16-EE0ED6568ED3}"/>
              </a:ext>
            </a:extLst>
          </p:cNvPr>
          <p:cNvSpPr/>
          <p:nvPr/>
        </p:nvSpPr>
        <p:spPr>
          <a:xfrm>
            <a:off x="3205416" y="3364992"/>
            <a:ext cx="2368456" cy="772668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25738498-1D66-9D8F-1B99-E1570364A0B8}"/>
              </a:ext>
            </a:extLst>
          </p:cNvPr>
          <p:cNvSpPr/>
          <p:nvPr/>
        </p:nvSpPr>
        <p:spPr>
          <a:xfrm>
            <a:off x="3288364" y="3615309"/>
            <a:ext cx="394743" cy="386334"/>
          </a:xfrm>
          <a:prstGeom prst="ellipse">
            <a:avLst/>
          </a:prstGeom>
          <a:solidFill>
            <a:srgbClr val="7030A0">
              <a:alpha val="80000"/>
            </a:srgbClr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A094B9EE-E908-AC11-8766-0D3568FD9710}"/>
              </a:ext>
            </a:extLst>
          </p:cNvPr>
          <p:cNvSpPr/>
          <p:nvPr/>
        </p:nvSpPr>
        <p:spPr>
          <a:xfrm>
            <a:off x="3288364" y="3615309"/>
            <a:ext cx="394743" cy="386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</a:t>
            </a:r>
            <a:endParaRPr lang="en-US" sz="1400" dirty="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72B90D71-276D-D904-5F4C-35FA9E8EA9BF}"/>
              </a:ext>
            </a:extLst>
          </p:cNvPr>
          <p:cNvSpPr/>
          <p:nvPr/>
        </p:nvSpPr>
        <p:spPr>
          <a:xfrm>
            <a:off x="3837004" y="3496437"/>
            <a:ext cx="1736868" cy="293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ar-EG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سامح عاطف</a:t>
            </a:r>
            <a:endParaRPr lang="en-US" sz="13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E65B4427-8D09-B185-6061-CCF0DCCCBE9C}"/>
              </a:ext>
            </a:extLst>
          </p:cNvPr>
          <p:cNvSpPr/>
          <p:nvPr/>
        </p:nvSpPr>
        <p:spPr>
          <a:xfrm>
            <a:off x="3837004" y="3843909"/>
            <a:ext cx="1736868" cy="2472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000" dirty="0">
              <a:solidFill>
                <a:srgbClr val="7030A0"/>
              </a:solidFill>
            </a:endParaRPr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E24472F5-79A5-5D4D-6702-0E29BF321D57}"/>
              </a:ext>
            </a:extLst>
          </p:cNvPr>
          <p:cNvSpPr/>
          <p:nvPr/>
        </p:nvSpPr>
        <p:spPr>
          <a:xfrm>
            <a:off x="270844" y="4307830"/>
            <a:ext cx="2368456" cy="772668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26">
            <a:extLst>
              <a:ext uri="{FF2B5EF4-FFF2-40B4-BE49-F238E27FC236}">
                <a16:creationId xmlns:a16="http://schemas.microsoft.com/office/drawing/2014/main" id="{99E4BD59-731A-2CA4-3FE3-40A8885130D0}"/>
              </a:ext>
            </a:extLst>
          </p:cNvPr>
          <p:cNvSpPr/>
          <p:nvPr/>
        </p:nvSpPr>
        <p:spPr>
          <a:xfrm>
            <a:off x="365760" y="4519422"/>
            <a:ext cx="394743" cy="386334"/>
          </a:xfrm>
          <a:prstGeom prst="ellipse">
            <a:avLst/>
          </a:prstGeom>
          <a:solidFill>
            <a:srgbClr val="FFFF00">
              <a:alpha val="80000"/>
            </a:srgbClr>
          </a:solidFill>
          <a:ln w="12700">
            <a:solidFill>
              <a:srgbClr val="FF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249D6D29-0F37-8017-DCD7-27D20C21EB8F}"/>
              </a:ext>
            </a:extLst>
          </p:cNvPr>
          <p:cNvSpPr/>
          <p:nvPr/>
        </p:nvSpPr>
        <p:spPr>
          <a:xfrm>
            <a:off x="365760" y="4519422"/>
            <a:ext cx="394743" cy="386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</a:t>
            </a:r>
            <a:endParaRPr lang="en-US" sz="1400" dirty="0"/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8821469F-3CFC-D8CB-EE4F-AECA9647055E}"/>
              </a:ext>
            </a:extLst>
          </p:cNvPr>
          <p:cNvSpPr/>
          <p:nvPr/>
        </p:nvSpPr>
        <p:spPr>
          <a:xfrm>
            <a:off x="914400" y="4400550"/>
            <a:ext cx="1736868" cy="293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ar-EG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يوسف محمد</a:t>
            </a:r>
            <a:endParaRPr lang="en-US" sz="1300" dirty="0"/>
          </a:p>
        </p:txBody>
      </p:sp>
      <p:sp>
        <p:nvSpPr>
          <p:cNvPr id="57" name="Text 29">
            <a:extLst>
              <a:ext uri="{FF2B5EF4-FFF2-40B4-BE49-F238E27FC236}">
                <a16:creationId xmlns:a16="http://schemas.microsoft.com/office/drawing/2014/main" id="{1756F307-6A5A-39DE-237A-EC4C5CC0E9A8}"/>
              </a:ext>
            </a:extLst>
          </p:cNvPr>
          <p:cNvSpPr/>
          <p:nvPr/>
        </p:nvSpPr>
        <p:spPr>
          <a:xfrm>
            <a:off x="914400" y="4748022"/>
            <a:ext cx="1736868" cy="2472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303520" y="818388"/>
            <a:ext cx="3840480" cy="4325112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5943600" y="640080"/>
            <a:ext cx="2926080" cy="2743200"/>
          </a:xfrm>
          <a:prstGeom prst="ellipse">
            <a:avLst/>
          </a:prstGeom>
          <a:solidFill>
            <a:srgbClr val="FF5252">
              <a:alpha val="10000"/>
            </a:srgbClr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859536" y="402336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FF5252">
              <a:alpha val="20000"/>
            </a:srgbClr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41248" y="40233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65760" y="8229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365760" y="13716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3200" dirty="0"/>
          </a:p>
        </p:txBody>
      </p:sp>
      <p:sp>
        <p:nvSpPr>
          <p:cNvPr id="10" name="Shape 6"/>
          <p:cNvSpPr/>
          <p:nvPr/>
        </p:nvSpPr>
        <p:spPr>
          <a:xfrm>
            <a:off x="365760" y="2011680"/>
            <a:ext cx="32004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65760" y="214884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تُعدّ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منصة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Booking.com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أكبر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منصات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السفر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عالميًا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،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مما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جعل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اختبارها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تحديًا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حقيقيًا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يستلزم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تغطية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شاملة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لعدد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كبير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الوحدات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الوظيفية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المترابطة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،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ظل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غياب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أي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توثيق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سابق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لحالات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الاختبار</a:t>
            </a: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</a:t>
            </a:r>
          </a:p>
        </p:txBody>
      </p:sp>
      <p:sp>
        <p:nvSpPr>
          <p:cNvPr id="12" name="Shape 8"/>
          <p:cNvSpPr/>
          <p:nvPr/>
        </p:nvSpPr>
        <p:spPr>
          <a:xfrm>
            <a:off x="5577840" y="64008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0F1526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669280" y="7315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263640" y="777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 err="1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الاختبار</a:t>
            </a: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اليدوي</a:t>
            </a:r>
            <a:endParaRPr lang="en-US" sz="1500" b="1" dirty="0">
              <a:solidFill>
                <a:srgbClr val="F1F5F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309360" y="11201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تصميم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وتنفيذ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٢١٥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حالة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اختبار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يدوية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موزعة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على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١٧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وحدة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وظيفية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عبر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جولتَي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اختبار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كاملتَين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6" name="Shape 12"/>
          <p:cNvSpPr/>
          <p:nvPr/>
        </p:nvSpPr>
        <p:spPr>
          <a:xfrm>
            <a:off x="5577840" y="201168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0F1526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669280" y="2103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26364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 err="1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االاختبار</a:t>
            </a: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الآلي</a:t>
            </a:r>
            <a:endParaRPr lang="en-US" sz="1500" b="1" dirty="0">
              <a:solidFill>
                <a:srgbClr val="F1F5F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263640" y="25420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بناء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مجموعة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اختبارات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آلية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باستخدام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Selenium WebDriver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وJava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وTestNG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تغطي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أبرز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مسارات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المستخدم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20" name="Shape 16"/>
          <p:cNvSpPr/>
          <p:nvPr/>
        </p:nvSpPr>
        <p:spPr>
          <a:xfrm>
            <a:off x="5577840" y="338328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0F1526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669280" y="34747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26364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 err="1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توثيق</a:t>
            </a: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الأخطاء</a:t>
            </a: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23" name="Text 19"/>
          <p:cNvSpPr/>
          <p:nvPr/>
        </p:nvSpPr>
        <p:spPr>
          <a:xfrm>
            <a:off x="6263640" y="39136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رصد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وتوثيق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الأخطاء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المكتشفة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بتصنيف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الخطورة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والأولوية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تقديم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تغطية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شامل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نهاية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جولة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اختبار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23256" y="274320"/>
            <a:ext cx="391450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365760" y="9144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365760" y="192024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141B2D"/>
          </a:solidFill>
          <a:ln w="190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1143000" y="2057400"/>
            <a:ext cx="914400" cy="91440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6576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 err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التغطية</a:t>
            </a: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الواسعة</a:t>
            </a: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9" name="Text 5"/>
          <p:cNvSpPr/>
          <p:nvPr/>
        </p:nvSpPr>
        <p:spPr>
          <a:xfrm>
            <a:off x="365760" y="319887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Booking.com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تضم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عشرات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المسارات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الوظيفية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المترابطة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،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مما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جعل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تحديد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نطاق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الاختبار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وضمان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التغطية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الشاملة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المتاح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تحديًا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حقيقيًا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0" name="Shape 6"/>
          <p:cNvSpPr/>
          <p:nvPr/>
        </p:nvSpPr>
        <p:spPr>
          <a:xfrm>
            <a:off x="2803723" y="3500628"/>
            <a:ext cx="365760" cy="0"/>
          </a:xfrm>
          <a:prstGeom prst="line">
            <a:avLst/>
          </a:prstGeom>
          <a:noFill/>
          <a:ln w="254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200400" y="192024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141B2D"/>
          </a:solidFill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977640" y="2057400"/>
            <a:ext cx="914400" cy="914400"/>
          </a:xfrm>
          <a:prstGeom prst="ellipse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200400" y="23088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en-US" sz="1100" b="1" dirty="0" err="1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التحقق</a:t>
            </a: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بال</a:t>
            </a: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ـ OTP </a:t>
            </a:r>
          </a:p>
        </p:txBody>
      </p:sp>
      <p:sp>
        <p:nvSpPr>
          <p:cNvPr id="14" name="Text 10"/>
          <p:cNvSpPr/>
          <p:nvPr/>
        </p:nvSpPr>
        <p:spPr>
          <a:xfrm>
            <a:off x="3203448" y="31805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وقفت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آلية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ـ OTP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الاختبار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الآلي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لتسجيل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الدخول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بالكامل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يمكن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للسكريبت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اجتياز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التحقق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،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مما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عطّل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حالات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الاختبار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المبنية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على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جلسة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مستخدم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مسجل</a:t>
            </a:r>
            <a:r>
              <a:rPr lang="en-US" sz="1100" dirty="0"/>
              <a:t>.</a:t>
            </a:r>
          </a:p>
        </p:txBody>
      </p:sp>
      <p:sp>
        <p:nvSpPr>
          <p:cNvPr id="15" name="Shape 11"/>
          <p:cNvSpPr/>
          <p:nvPr/>
        </p:nvSpPr>
        <p:spPr>
          <a:xfrm>
            <a:off x="5715000" y="3470148"/>
            <a:ext cx="365760" cy="0"/>
          </a:xfrm>
          <a:prstGeom prst="line">
            <a:avLst/>
          </a:prstGeom>
          <a:noFill/>
          <a:ln w="254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035040" y="192024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141B2D"/>
          </a:solidFill>
          <a:ln w="190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812280" y="2057400"/>
            <a:ext cx="914400" cy="914400"/>
          </a:xfrm>
          <a:prstGeom prst="ellipse">
            <a:avLst/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035040" y="23088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 err="1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الميزات</a:t>
            </a: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المحجوبة</a:t>
            </a:r>
            <a:endParaRPr lang="en-US" sz="1100" b="1" dirty="0">
              <a:solidFill>
                <a:srgbClr val="00E67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035040" y="314495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/>
              <a:t>٣٠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حالة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اختبار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يمكن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تنفيذها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بسبب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ميزات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غير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متاحة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بيئة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الاختبار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،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مما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أثّر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على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اكتمال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التغطية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وأجبر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الفريق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على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توثيقها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كـ Blocked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بدلًا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تجاهلها</a:t>
            </a:r>
            <a:r>
              <a:rPr lang="en-US" sz="1100" dirty="0"/>
              <a:t>.</a:t>
            </a:r>
          </a:p>
        </p:txBody>
      </p:sp>
      <p:sp>
        <p:nvSpPr>
          <p:cNvPr id="20" name="Shape 16"/>
          <p:cNvSpPr/>
          <p:nvPr/>
        </p:nvSpPr>
        <p:spPr>
          <a:xfrm>
            <a:off x="5349240" y="169743"/>
            <a:ext cx="2926080" cy="1508760"/>
          </a:xfrm>
          <a:prstGeom prst="roundRect">
            <a:avLst>
              <a:gd name="adj" fmla="val 6061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080760" y="365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300" dirty="0" err="1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التغطية</a:t>
            </a:r>
            <a:r>
              <a:rPr lang="en-US" sz="13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الواسعة</a:t>
            </a:r>
            <a:r>
              <a:rPr lang="en-US" sz="13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22" name="Text 18"/>
          <p:cNvSpPr/>
          <p:nvPr/>
        </p:nvSpPr>
        <p:spPr>
          <a:xfrm>
            <a:off x="6080760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التحقق </a:t>
            </a:r>
            <a:r>
              <a:rPr lang="en-US" sz="1300" dirty="0" err="1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بال</a:t>
            </a:r>
            <a:r>
              <a:rPr lang="en-US" sz="13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ـ OTP </a:t>
            </a:r>
          </a:p>
        </p:txBody>
      </p:sp>
      <p:sp>
        <p:nvSpPr>
          <p:cNvPr id="23" name="Text 19"/>
          <p:cNvSpPr/>
          <p:nvPr/>
        </p:nvSpPr>
        <p:spPr>
          <a:xfrm>
            <a:off x="608076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300" dirty="0" err="1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الميزات</a:t>
            </a:r>
            <a:r>
              <a:rPr lang="en-US" sz="13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المحجوبة</a:t>
            </a:r>
            <a:endParaRPr lang="en-US" sz="1300" dirty="0">
              <a:solidFill>
                <a:srgbClr val="F1F5F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73152"/>
            <a:ext cx="9144000" cy="102412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45E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320040" y="768096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45E838">
              <a:alpha val="20000"/>
            </a:srgbClr>
          </a:solidFill>
          <a:ln w="12700">
            <a:solidFill>
              <a:srgbClr val="45E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20040" y="76190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45E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>
              <a:solidFill>
                <a:srgbClr val="45E838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3554095" y="374904"/>
            <a:ext cx="203581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Approach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2286000" y="7132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65760" y="12801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340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65760" y="128016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6C63FF">
              <a:alpha val="25000"/>
            </a:srgbClr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48640" y="1325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الحل الرئيسي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" y="17830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تصميم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٢١٥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حالة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اختبار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يدوية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موزعة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على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١٧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وحدة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وظيفية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،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مدعومةً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بمجموعة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اختبارات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آلية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باستخدام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Selenium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تغطي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أبرز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مسارات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المستخدم</a:t>
            </a:r>
            <a:r>
              <a:rPr lang="en-US" sz="1200" dirty="0"/>
              <a:t>.</a:t>
            </a:r>
          </a:p>
        </p:txBody>
      </p:sp>
      <p:sp>
        <p:nvSpPr>
          <p:cNvPr id="14" name="Shape 10"/>
          <p:cNvSpPr/>
          <p:nvPr/>
        </p:nvSpPr>
        <p:spPr>
          <a:xfrm>
            <a:off x="4754880" y="12801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340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754880" y="128016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937760" y="1325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المزايا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937760" y="17830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تنفيذ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جولتَي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اختبار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تتبع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واضح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لحالات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النجاح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والفشل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والحجب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،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وتوثيق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الأخطاء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بتصنيف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الخطورة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والأولوية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،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وحل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إشكالية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OTP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عبر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Mailsaur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8" name="Shape 14"/>
          <p:cNvSpPr/>
          <p:nvPr/>
        </p:nvSpPr>
        <p:spPr>
          <a:xfrm>
            <a:off x="365760" y="301752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34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65760" y="301752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48640" y="3063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التقنيات المستخدمة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48640" y="3520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· Java · TestNG · Postman ·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Mailsaur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Excel</a:t>
            </a:r>
          </a:p>
        </p:txBody>
      </p:sp>
      <p:sp>
        <p:nvSpPr>
          <p:cNvPr id="22" name="Shape 18"/>
          <p:cNvSpPr/>
          <p:nvPr/>
        </p:nvSpPr>
        <p:spPr>
          <a:xfrm>
            <a:off x="4754880" y="301752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34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754880" y="301752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FFB300">
              <a:alpha val="25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937760" y="3063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النتائج المتوقعة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937760" y="3520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رُصد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٧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أخطاء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موثقة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،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وسُجّلت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٣٠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حالة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اختبار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محجوبة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،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تقديم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تغطية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شامل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945930" y="274320"/>
            <a:ext cx="764942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36576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365760" y="1691640"/>
            <a:ext cx="4114800" cy="2560320"/>
          </a:xfrm>
          <a:prstGeom prst="roundRect">
            <a:avLst>
              <a:gd name="adj" fmla="val 3571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65760" y="169164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663440" y="1691640"/>
            <a:ext cx="4114800" cy="1143000"/>
          </a:xfrm>
          <a:prstGeom prst="roundRect">
            <a:avLst>
              <a:gd name="adj" fmla="val 8000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663440" y="1691640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663440" y="3017520"/>
            <a:ext cx="4114800" cy="1234440"/>
          </a:xfrm>
          <a:prstGeom prst="roundRect">
            <a:avLst>
              <a:gd name="adj" fmla="val 7407"/>
            </a:avLst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663440" y="3017520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1360714" y="0"/>
            <a:ext cx="7783286" cy="100584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1556656" y="137160"/>
            <a:ext cx="70387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Results Dashboard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1360714" y="621792"/>
            <a:ext cx="35770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Team — Final Metrics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74320" y="1143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74320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274320" y="1965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Cases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423160" y="1143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90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423160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2423160" y="1965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0" y="1143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905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572000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4572000" y="1965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720840" y="1143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90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720840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000" dirty="0"/>
          </a:p>
        </p:txBody>
      </p:sp>
      <p:sp>
        <p:nvSpPr>
          <p:cNvPr id="19" name="Text 15"/>
          <p:cNvSpPr/>
          <p:nvPr/>
        </p:nvSpPr>
        <p:spPr>
          <a:xfrm>
            <a:off x="6720840" y="1965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2225358668"/>
              </p:ext>
            </p:extLst>
          </p:nvPr>
        </p:nvGraphicFramePr>
        <p:xfrm>
          <a:off x="274320" y="2651760"/>
          <a:ext cx="53035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1" name="Chart 1"/>
          <p:cNvGraphicFramePr/>
          <p:nvPr>
            <p:extLst>
              <p:ext uri="{D42A27DB-BD31-4B8C-83A1-F6EECF244321}">
                <p14:modId xmlns:p14="http://schemas.microsoft.com/office/powerpoint/2010/main" val="2220401922"/>
              </p:ext>
            </p:extLst>
          </p:nvPr>
        </p:nvGraphicFramePr>
        <p:xfrm>
          <a:off x="5669280" y="2651760"/>
          <a:ext cx="32918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6C63FF">
              <a:alpha val="8000"/>
            </a:srgbClr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-1371600" y="-914400"/>
            <a:ext cx="3200400" cy="3200400"/>
          </a:xfrm>
          <a:prstGeom prst="ellipse">
            <a:avLst/>
          </a:prstGeom>
          <a:solidFill>
            <a:srgbClr val="4FC3F7">
              <a:alpha val="1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365760" y="1371600"/>
            <a:ext cx="3657600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68096" y="320040"/>
            <a:ext cx="50840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8" name="Shape 4"/>
          <p:cNvSpPr/>
          <p:nvPr/>
        </p:nvSpPr>
        <p:spPr>
          <a:xfrm>
            <a:off x="365760" y="150876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94360" y="15819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" y="1920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نجح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الفريق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تنفيذ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دورة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اختبار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جودة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متكاملة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لمنصة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Booking.com،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شملت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٢١٥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حالة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اختبار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يدوية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عبر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١٧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وحدة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وظيفية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،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واختبارات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آلية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باستخدام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Selenium،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ورصد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٧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أخطاء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موثقة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1" name="Shape 7"/>
          <p:cNvSpPr/>
          <p:nvPr/>
        </p:nvSpPr>
        <p:spPr>
          <a:xfrm>
            <a:off x="365760" y="25603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94360" y="263347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94360" y="2971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علّمنا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هذا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المشروع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كيفية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التعامل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منصات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ضخمة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ومعقدة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،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وأتمتة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الاختبارات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ظل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قيود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تقنية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كال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ـ OTP،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وبناء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توثيق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احترافي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منظم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الصفر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4" name="Shape 10"/>
          <p:cNvSpPr/>
          <p:nvPr/>
        </p:nvSpPr>
        <p:spPr>
          <a:xfrm>
            <a:off x="365760" y="361188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94360" y="36850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9436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توسيع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نطاق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الاختبارات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الآلية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،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والتكامل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أنظمة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CI/CD،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وإضافة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طبقات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اختبار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الأداء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والأمان</a:t>
            </a:r>
            <a:r>
              <a:rPr lang="en-US" sz="1100" dirty="0"/>
              <a:t>.</a:t>
            </a:r>
            <a:endParaRPr lang="en-US" sz="1100" dirty="0">
              <a:solidFill>
                <a:srgbClr val="8892A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760720" y="1371600"/>
            <a:ext cx="3108960" cy="3474720"/>
          </a:xfrm>
          <a:prstGeom prst="roundRect">
            <a:avLst>
              <a:gd name="adj" fmla="val 3529"/>
            </a:avLst>
          </a:prstGeom>
          <a:solidFill>
            <a:srgbClr val="1A2340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760720" y="17373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5760720" y="22860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You!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6217920" y="2971800"/>
            <a:ext cx="219456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760720" y="3154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ملك أنور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Team Leader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 Graduation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581</Words>
  <Application>Microsoft Office PowerPoint</Application>
  <PresentationFormat>On-screen Show (16:9)</PresentationFormat>
  <Paragraphs>125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ITC Graduation Project</dc:title>
  <dc:subject>PptxGenJS Presentation</dc:subject>
  <dc:creator>PptxGenJS</dc:creator>
  <cp:lastModifiedBy>zeynab Abdeldayem</cp:lastModifiedBy>
  <cp:revision>5</cp:revision>
  <dcterms:created xsi:type="dcterms:W3CDTF">2026-06-22T16:21:38Z</dcterms:created>
  <dcterms:modified xsi:type="dcterms:W3CDTF">2026-06-28T18:09:46Z</dcterms:modified>
</cp:coreProperties>
</file>