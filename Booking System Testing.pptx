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1" r:id="rId6"/>
    <p:sldId id="260"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5E838"/>
    <a:srgbClr val="E63946"/>
    <a:srgbClr val="00CC76"/>
    <a:srgbClr val="DE080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5692F0-A7FF-645B-938C-57AB348DB005}" v="102" dt="2026-06-29T14:26:30.7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420" autoAdjust="0"/>
    <p:restoredTop sz="94610"/>
  </p:normalViewPr>
  <p:slideViewPr>
    <p:cSldViewPr snapToGrid="0" snapToObjects="1">
      <p:cViewPr varScale="1">
        <p:scale>
          <a:sx n="112" d="100"/>
          <a:sy n="112" d="100"/>
        </p:scale>
        <p:origin x="667"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Results</c:v>
                </c:pt>
              </c:strCache>
            </c:strRef>
          </c:tx>
          <c:spPr>
            <a:solidFill>
              <a:schemeClr val="accent1"/>
            </a:solidFill>
            <a:ln w="9525" cap="flat">
              <a:solidFill>
                <a:srgbClr val="F9F9F9"/>
              </a:solidFill>
              <a:prstDash val="solid"/>
              <a:round/>
            </a:ln>
            <a:effectLst/>
          </c:spPr>
          <c:dPt>
            <c:idx val="0"/>
            <c:bubble3D val="0"/>
            <c:spPr>
              <a:solidFill>
                <a:srgbClr val="00E676"/>
              </a:solidFill>
              <a:effectLst/>
            </c:spPr>
            <c:extLst>
              <c:ext xmlns:c16="http://schemas.microsoft.com/office/drawing/2014/chart" uri="{C3380CC4-5D6E-409C-BE32-E72D297353CC}">
                <c16:uniqueId val="{00000001-EBF6-457D-A62C-0858C2DD3E50}"/>
              </c:ext>
            </c:extLst>
          </c:dPt>
          <c:dPt>
            <c:idx val="1"/>
            <c:bubble3D val="0"/>
            <c:explosion val="19"/>
            <c:spPr>
              <a:solidFill>
                <a:srgbClr val="C00000"/>
              </a:solidFill>
              <a:effectLst/>
            </c:spPr>
            <c:extLst>
              <c:ext xmlns:c16="http://schemas.microsoft.com/office/drawing/2014/chart" uri="{C3380CC4-5D6E-409C-BE32-E72D297353CC}">
                <c16:uniqueId val="{00000003-EBF6-457D-A62C-0858C2DD3E50}"/>
              </c:ext>
            </c:extLst>
          </c:dPt>
          <c:dPt>
            <c:idx val="2"/>
            <c:bubble3D val="0"/>
            <c:explosion val="17"/>
            <c:spPr>
              <a:solidFill>
                <a:schemeClr val="accent4">
                  <a:lumMod val="60000"/>
                  <a:lumOff val="40000"/>
                </a:schemeClr>
              </a:solidFill>
              <a:ln w="9525" cap="flat">
                <a:noFill/>
                <a:prstDash val="solid"/>
                <a:round/>
              </a:ln>
              <a:effectLst/>
            </c:spPr>
            <c:extLst>
              <c:ext xmlns:c16="http://schemas.microsoft.com/office/drawing/2014/chart" uri="{C3380CC4-5D6E-409C-BE32-E72D297353CC}">
                <c16:uniqueId val="{00000004-8345-47D6-AAAD-B56B4731354D}"/>
              </c:ext>
            </c:extLst>
          </c:dPt>
          <c:cat>
            <c:strRef>
              <c:f>Sheet1!$A$2:$A$4</c:f>
              <c:strCache>
                <c:ptCount val="3"/>
                <c:pt idx="0">
                  <c:v>Passed</c:v>
                </c:pt>
                <c:pt idx="1">
                  <c:v>Failed</c:v>
                </c:pt>
                <c:pt idx="2">
                  <c:v>Blocked</c:v>
                </c:pt>
              </c:strCache>
            </c:strRef>
          </c:cat>
          <c:val>
            <c:numRef>
              <c:f>Sheet1!$B$2:$B$4</c:f>
              <c:numCache>
                <c:formatCode>General</c:formatCode>
                <c:ptCount val="3"/>
                <c:pt idx="0">
                  <c:v>178</c:v>
                </c:pt>
                <c:pt idx="1">
                  <c:v>7</c:v>
                </c:pt>
                <c:pt idx="2">
                  <c:v>30</c:v>
                </c:pt>
              </c:numCache>
            </c:numRef>
          </c:val>
          <c:extLst>
            <c:ext xmlns:c16="http://schemas.microsoft.com/office/drawing/2014/chart" uri="{C3380CC4-5D6E-409C-BE32-E72D297353CC}">
              <c16:uniqueId val="{00000004-EBF6-457D-A62C-0858C2DD3E50}"/>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r"/>
      <c:legendEntry>
        <c:idx val="0"/>
        <c:txPr>
          <a:bodyPr/>
          <a:lstStyle/>
          <a:p>
            <a:pPr>
              <a:defRPr sz="1000">
                <a:solidFill>
                  <a:srgbClr val="00B050"/>
                </a:solidFill>
              </a:defRPr>
            </a:pPr>
            <a:endParaRPr lang="en-US"/>
          </a:p>
        </c:txPr>
      </c:legendEntry>
      <c:legendEntry>
        <c:idx val="1"/>
        <c:txPr>
          <a:bodyPr/>
          <a:lstStyle/>
          <a:p>
            <a:pPr>
              <a:defRPr sz="1000">
                <a:solidFill>
                  <a:srgbClr val="C00000"/>
                </a:solidFill>
              </a:defRPr>
            </a:pPr>
            <a:endParaRPr lang="en-US"/>
          </a:p>
        </c:txPr>
      </c:legendEntry>
      <c:legendEntry>
        <c:idx val="2"/>
        <c:txPr>
          <a:bodyPr/>
          <a:lstStyle/>
          <a:p>
            <a:pPr>
              <a:defRPr sz="1000" baseline="0">
                <a:solidFill>
                  <a:schemeClr val="accent4">
                    <a:lumMod val="60000"/>
                    <a:lumOff val="40000"/>
                  </a:schemeClr>
                </a:solidFill>
              </a:defRPr>
            </a:pPr>
            <a:endParaRPr lang="en-US"/>
          </a:p>
        </c:txPr>
      </c:legendEntry>
      <c:overlay val="0"/>
      <c:txPr>
        <a:bodyPr/>
        <a:lstStyle/>
        <a:p>
          <a:pPr>
            <a:defRPr sz="1000"/>
          </a:pPr>
          <a:endParaRPr lang="en-US"/>
        </a:p>
      </c:txPr>
    </c:legend>
    <c:plotVisOnly val="1"/>
    <c:dispBlanksAs val="span"/>
    <c:showDLblsOverMax val="1"/>
  </c:chart>
  <c:spPr>
    <a:solidFill>
      <a:srgbClr val="0A0E1A"/>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Test Results</c:v>
                </c:pt>
              </c:strCache>
            </c:strRef>
          </c:tx>
          <c:spPr>
            <a:solidFill>
              <a:srgbClr val="00E676"/>
            </a:solidFill>
            <a:effectLst/>
          </c:spPr>
          <c:invertIfNegative val="0"/>
          <c:dPt>
            <c:idx val="0"/>
            <c:invertIfNegative val="0"/>
            <c:bubble3D val="0"/>
            <c:extLst>
              <c:ext xmlns:c16="http://schemas.microsoft.com/office/drawing/2014/chart" uri="{C3380CC4-5D6E-409C-BE32-E72D297353CC}">
                <c16:uniqueId val="{00000001-3B2E-4AE9-AFA4-1B6F51D2C955}"/>
              </c:ext>
            </c:extLst>
          </c:dPt>
          <c:dPt>
            <c:idx val="1"/>
            <c:invertIfNegative val="0"/>
            <c:bubble3D val="0"/>
            <c:spPr>
              <a:solidFill>
                <a:srgbClr val="FF5252"/>
              </a:solidFill>
              <a:effectLst/>
            </c:spPr>
            <c:extLst>
              <c:ext xmlns:c16="http://schemas.microsoft.com/office/drawing/2014/chart" uri="{C3380CC4-5D6E-409C-BE32-E72D297353CC}">
                <c16:uniqueId val="{00000003-3B2E-4AE9-AFA4-1B6F51D2C955}"/>
              </c:ext>
            </c:extLst>
          </c:dPt>
          <c:dPt>
            <c:idx val="2"/>
            <c:invertIfNegative val="0"/>
            <c:bubble3D val="0"/>
            <c:spPr>
              <a:solidFill>
                <a:srgbClr val="FFB300"/>
              </a:solidFill>
              <a:effectLst/>
            </c:spPr>
            <c:extLst>
              <c:ext xmlns:c16="http://schemas.microsoft.com/office/drawing/2014/chart" uri="{C3380CC4-5D6E-409C-BE32-E72D297353CC}">
                <c16:uniqueId val="{00000005-3B2E-4AE9-AFA4-1B6F51D2C955}"/>
              </c:ext>
            </c:extLst>
          </c:dPt>
          <c:dLbls>
            <c:numFmt formatCode="#,##0" sourceLinked="0"/>
            <c:spPr>
              <a:noFill/>
              <a:ln>
                <a:noFill/>
              </a:ln>
              <a:effectLst/>
            </c:spPr>
            <c:txPr>
              <a:bodyPr/>
              <a:lstStyle/>
              <a:p>
                <a:pPr>
                  <a:defRPr sz="1200" b="0" i="0" u="none" strike="noStrike">
                    <a:solidFill>
                      <a:srgbClr val="F1F5F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Passed</c:v>
                </c:pt>
                <c:pt idx="1">
                  <c:v>Failed</c:v>
                </c:pt>
                <c:pt idx="2">
                  <c:v>Blocked</c:v>
                </c:pt>
              </c:strCache>
            </c:strRef>
          </c:cat>
          <c:val>
            <c:numRef>
              <c:f>Sheet1!$B$2:$B$4</c:f>
              <c:numCache>
                <c:formatCode>General</c:formatCode>
                <c:ptCount val="3"/>
                <c:pt idx="0">
                  <c:v>178</c:v>
                </c:pt>
                <c:pt idx="1">
                  <c:v>7</c:v>
                </c:pt>
                <c:pt idx="2">
                  <c:v>30</c:v>
                </c:pt>
              </c:numCache>
            </c:numRef>
          </c:val>
          <c:extLst>
            <c:ext xmlns:c16="http://schemas.microsoft.com/office/drawing/2014/chart" uri="{C3380CC4-5D6E-409C-BE32-E72D297353CC}">
              <c16:uniqueId val="{00000006-3B2E-4AE9-AFA4-1B6F51D2C95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892A4"/>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1E2D4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892A4"/>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A0E1A"/>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Pass/Fail</c:v>
                </c:pt>
              </c:strCache>
            </c:strRef>
          </c:tx>
          <c:spPr>
            <a:solidFill>
              <a:schemeClr val="accent1"/>
            </a:solidFill>
            <a:ln w="9525" cap="flat">
              <a:solidFill>
                <a:srgbClr val="F9F9F9"/>
              </a:solidFill>
              <a:prstDash val="solid"/>
              <a:round/>
            </a:ln>
            <a:effectLst/>
          </c:spPr>
          <c:dPt>
            <c:idx val="0"/>
            <c:bubble3D val="0"/>
            <c:spPr>
              <a:solidFill>
                <a:srgbClr val="00E676"/>
              </a:solidFill>
              <a:effectLst/>
            </c:spPr>
            <c:extLst>
              <c:ext xmlns:c16="http://schemas.microsoft.com/office/drawing/2014/chart" uri="{C3380CC4-5D6E-409C-BE32-E72D297353CC}">
                <c16:uniqueId val="{00000001-A8FC-4C36-872A-0319713CEDE8}"/>
              </c:ext>
            </c:extLst>
          </c:dPt>
          <c:dPt>
            <c:idx val="1"/>
            <c:bubble3D val="0"/>
            <c:spPr>
              <a:solidFill>
                <a:srgbClr val="FF5252"/>
              </a:solidFill>
              <a:effectLst/>
            </c:spPr>
            <c:extLst>
              <c:ext xmlns:c16="http://schemas.microsoft.com/office/drawing/2014/chart" uri="{C3380CC4-5D6E-409C-BE32-E72D297353CC}">
                <c16:uniqueId val="{00000003-A8FC-4C36-872A-0319713CEDE8}"/>
              </c:ext>
            </c:extLst>
          </c:dPt>
          <c:dPt>
            <c:idx val="2"/>
            <c:bubble3D val="0"/>
            <c:spPr>
              <a:solidFill>
                <a:srgbClr val="FFC000"/>
              </a:solidFill>
              <a:ln w="9525" cap="flat">
                <a:solidFill>
                  <a:srgbClr val="F9F9F9"/>
                </a:solidFill>
                <a:prstDash val="solid"/>
                <a:round/>
              </a:ln>
              <a:effectLst/>
            </c:spPr>
            <c:extLst>
              <c:ext xmlns:c16="http://schemas.microsoft.com/office/drawing/2014/chart" uri="{C3380CC4-5D6E-409C-BE32-E72D297353CC}">
                <c16:uniqueId val="{00000004-3906-4ABF-AE99-F3E762D53A18}"/>
              </c:ext>
            </c:extLst>
          </c:dPt>
          <c:cat>
            <c:strRef>
              <c:f>Sheet1!$A$2:$A$4</c:f>
              <c:strCache>
                <c:ptCount val="3"/>
                <c:pt idx="0">
                  <c:v>Passed</c:v>
                </c:pt>
                <c:pt idx="1">
                  <c:v>Failed </c:v>
                </c:pt>
                <c:pt idx="2">
                  <c:v>Blocked</c:v>
                </c:pt>
              </c:strCache>
            </c:strRef>
          </c:cat>
          <c:val>
            <c:numRef>
              <c:f>Sheet1!$B$2:$B$4</c:f>
              <c:numCache>
                <c:formatCode>General</c:formatCode>
                <c:ptCount val="3"/>
                <c:pt idx="0">
                  <c:v>178</c:v>
                </c:pt>
                <c:pt idx="1">
                  <c:v>7</c:v>
                </c:pt>
                <c:pt idx="2">
                  <c:v>30</c:v>
                </c:pt>
              </c:numCache>
            </c:numRef>
          </c:val>
          <c:extLst>
            <c:ext xmlns:c16="http://schemas.microsoft.com/office/drawing/2014/chart" uri="{C3380CC4-5D6E-409C-BE32-E72D297353CC}">
              <c16:uniqueId val="{00000004-A8FC-4C36-872A-0319713CEDE8}"/>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b"/>
      <c:legendEntry>
        <c:idx val="0"/>
        <c:txPr>
          <a:bodyPr/>
          <a:lstStyle/>
          <a:p>
            <a:pPr>
              <a:defRPr sz="1000">
                <a:solidFill>
                  <a:srgbClr val="45E838"/>
                </a:solidFill>
              </a:defRPr>
            </a:pPr>
            <a:endParaRPr lang="en-US"/>
          </a:p>
        </c:txPr>
      </c:legendEntry>
      <c:legendEntry>
        <c:idx val="1"/>
        <c:txPr>
          <a:bodyPr/>
          <a:lstStyle/>
          <a:p>
            <a:pPr>
              <a:defRPr sz="1000">
                <a:solidFill>
                  <a:srgbClr val="E63946"/>
                </a:solidFill>
              </a:defRPr>
            </a:pPr>
            <a:endParaRPr lang="en-US"/>
          </a:p>
        </c:txPr>
      </c:legendEntry>
      <c:legendEntry>
        <c:idx val="2"/>
        <c:txPr>
          <a:bodyPr/>
          <a:lstStyle/>
          <a:p>
            <a:pPr>
              <a:defRPr sz="1000">
                <a:solidFill>
                  <a:srgbClr val="FFC000"/>
                </a:solidFill>
              </a:defRPr>
            </a:pPr>
            <a:endParaRPr lang="en-US"/>
          </a:p>
        </c:txPr>
      </c:legendEntry>
      <c:overlay val="0"/>
      <c:txPr>
        <a:bodyPr/>
        <a:lstStyle/>
        <a:p>
          <a:pPr>
            <a:defRPr sz="1000"/>
          </a:pPr>
          <a:endParaRPr lang="en-US"/>
        </a:p>
      </c:txPr>
    </c:legend>
    <c:plotVisOnly val="1"/>
    <c:dispBlanksAs val="span"/>
    <c:showDLblsOverMax val="1"/>
  </c:chart>
  <c:spPr>
    <a:solidFill>
      <a:srgbClr val="0A0E1A"/>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924135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chart" Target="../charts/char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jpeg"/><Relationship Id="rId5" Type="http://schemas.openxmlformats.org/officeDocument/2006/relationships/image" Target="../media/image3.jpe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chart" Target="../charts/chart3.xml"/><Relationship Id="rId5" Type="http://schemas.openxmlformats.org/officeDocument/2006/relationships/chart" Target="../charts/char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6C63FF"/>
          </a:solidFill>
          <a:ln w="12700">
            <a:solidFill>
              <a:srgbClr val="6C63FF"/>
            </a:solidFill>
            <a:prstDash val="solid"/>
          </a:ln>
        </p:spPr>
        <p:txBody>
          <a:bodyPr/>
          <a:lstStyle/>
          <a:p>
            <a:endParaRPr lang="en-US"/>
          </a:p>
        </p:txBody>
      </p:sp>
      <p:sp>
        <p:nvSpPr>
          <p:cNvPr id="3" name="Shape 1"/>
          <p:cNvSpPr/>
          <p:nvPr/>
        </p:nvSpPr>
        <p:spPr>
          <a:xfrm>
            <a:off x="7132320" y="-548640"/>
            <a:ext cx="2560320" cy="2560320"/>
          </a:xfrm>
          <a:prstGeom prst="ellipse">
            <a:avLst/>
          </a:prstGeom>
          <a:solidFill>
            <a:srgbClr val="6C63FF">
              <a:alpha val="15000"/>
            </a:srgbClr>
          </a:solidFill>
          <a:ln w="12700">
            <a:solidFill>
              <a:srgbClr val="6C63FF"/>
            </a:solidFill>
            <a:prstDash val="solid"/>
          </a:ln>
        </p:spPr>
        <p:txBody>
          <a:bodyPr/>
          <a:lstStyle/>
          <a:p>
            <a:endParaRPr lang="en-US"/>
          </a:p>
        </p:txBody>
      </p:sp>
      <p:sp>
        <p:nvSpPr>
          <p:cNvPr id="4" name="Shape 2"/>
          <p:cNvSpPr/>
          <p:nvPr/>
        </p:nvSpPr>
        <p:spPr>
          <a:xfrm>
            <a:off x="7772400" y="-182880"/>
            <a:ext cx="1463040" cy="1463040"/>
          </a:xfrm>
          <a:prstGeom prst="ellipse">
            <a:avLst/>
          </a:prstGeom>
          <a:solidFill>
            <a:srgbClr val="4FC3F7">
              <a:alpha val="20000"/>
            </a:srgbClr>
          </a:solidFill>
          <a:ln w="12700">
            <a:solidFill>
              <a:srgbClr val="4FC3F7"/>
            </a:solidFill>
            <a:prstDash val="solid"/>
          </a:ln>
        </p:spPr>
        <p:txBody>
          <a:bodyPr/>
          <a:lstStyle/>
          <a:p>
            <a:endParaRPr lang="en-US"/>
          </a:p>
        </p:txBody>
      </p:sp>
      <p:sp>
        <p:nvSpPr>
          <p:cNvPr id="5" name="Shape 3"/>
          <p:cNvSpPr/>
          <p:nvPr/>
        </p:nvSpPr>
        <p:spPr>
          <a:xfrm>
            <a:off x="-457200" y="3840480"/>
            <a:ext cx="2011680" cy="2011680"/>
          </a:xfrm>
          <a:prstGeom prst="ellipse">
            <a:avLst/>
          </a:prstGeom>
          <a:solidFill>
            <a:srgbClr val="4FC3F7">
              <a:alpha val="12000"/>
            </a:srgbClr>
          </a:solidFill>
          <a:ln w="12700">
            <a:solidFill>
              <a:srgbClr val="4FC3F7"/>
            </a:solidFill>
            <a:prstDash val="solid"/>
          </a:ln>
        </p:spPr>
        <p:txBody>
          <a:bodyPr/>
          <a:lstStyle/>
          <a:p>
            <a:endParaRPr lang="en-US"/>
          </a:p>
        </p:txBody>
      </p:sp>
      <p:sp>
        <p:nvSpPr>
          <p:cNvPr id="6" name="Shape 4"/>
          <p:cNvSpPr/>
          <p:nvPr/>
        </p:nvSpPr>
        <p:spPr>
          <a:xfrm>
            <a:off x="548640" y="2468880"/>
            <a:ext cx="4114800" cy="0"/>
          </a:xfrm>
          <a:prstGeom prst="line">
            <a:avLst/>
          </a:prstGeom>
          <a:noFill/>
          <a:ln w="19050">
            <a:solidFill>
              <a:srgbClr val="6C63F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109728" y="73152"/>
            <a:ext cx="658368" cy="658368"/>
          </a:xfrm>
          <a:prstGeom prst="ellipse">
            <a:avLst/>
          </a:prstGeom>
        </p:spPr>
      </p:pic>
      <p:pic>
        <p:nvPicPr>
          <p:cNvPr id="8" name="Image 1" descr="preencoded.png"/>
          <p:cNvPicPr>
            <a:picLocks noChangeAspect="1"/>
          </p:cNvPicPr>
          <p:nvPr/>
        </p:nvPicPr>
        <p:blipFill>
          <a:blip r:embed="rId4"/>
          <a:stretch>
            <a:fillRect/>
          </a:stretch>
        </p:blipFill>
        <p:spPr>
          <a:xfrm>
            <a:off x="8375904" y="73152"/>
            <a:ext cx="658368" cy="658368"/>
          </a:xfrm>
          <a:prstGeom prst="rect">
            <a:avLst/>
          </a:prstGeom>
        </p:spPr>
      </p:pic>
      <p:sp>
        <p:nvSpPr>
          <p:cNvPr id="9" name="Text 5"/>
          <p:cNvSpPr/>
          <p:nvPr/>
        </p:nvSpPr>
        <p:spPr>
          <a:xfrm>
            <a:off x="914400" y="320040"/>
            <a:ext cx="7315200" cy="365760"/>
          </a:xfrm>
          <a:prstGeom prst="rect">
            <a:avLst/>
          </a:prstGeom>
          <a:noFill/>
          <a:ln/>
        </p:spPr>
        <p:txBody>
          <a:bodyPr wrap="square" rtlCol="0" anchor="ctr"/>
          <a:lstStyle/>
          <a:p>
            <a:pPr marL="0" indent="0">
              <a:buNone/>
            </a:pPr>
            <a:r>
              <a:rPr lang="en-US" sz="1100" kern="0" spc="300" dirty="0">
                <a:solidFill>
                  <a:srgbClr val="4FC3F7"/>
                </a:solidFill>
                <a:latin typeface="Calibri" pitchFamily="34" charset="0"/>
                <a:ea typeface="Calibri" pitchFamily="34" charset="-122"/>
                <a:cs typeface="Calibri" pitchFamily="34" charset="-120"/>
              </a:rPr>
              <a:t>ITC — Information Technology Colleague</a:t>
            </a:r>
            <a:endParaRPr lang="en-US" sz="1100" dirty="0"/>
          </a:p>
        </p:txBody>
      </p:sp>
      <p:sp>
        <p:nvSpPr>
          <p:cNvPr id="10" name="Text 6"/>
          <p:cNvSpPr/>
          <p:nvPr/>
        </p:nvSpPr>
        <p:spPr>
          <a:xfrm>
            <a:off x="914400" y="658368"/>
            <a:ext cx="4572000" cy="320040"/>
          </a:xfrm>
          <a:prstGeom prst="rect">
            <a:avLst/>
          </a:prstGeom>
          <a:noFill/>
          <a:ln/>
        </p:spPr>
        <p:txBody>
          <a:bodyPr wrap="square" lIns="91440" tIns="45720" rIns="91440" bIns="45720" rtlCol="0" anchor="ctr"/>
          <a:lstStyle/>
          <a:p>
            <a:r>
              <a:rPr lang="en-US" sz="1100">
                <a:solidFill>
                  <a:srgbClr val="8892A4"/>
                </a:solidFill>
                <a:ea typeface="+mn-lt"/>
                <a:cs typeface="+mn-lt"/>
              </a:rPr>
              <a:t>Digital Egypt Pioneers Initiative</a:t>
            </a:r>
            <a:endParaRPr lang="en-US">
              <a:ea typeface="+mn-lt"/>
              <a:cs typeface="+mn-lt"/>
            </a:endParaRPr>
          </a:p>
        </p:txBody>
      </p:sp>
      <p:sp>
        <p:nvSpPr>
          <p:cNvPr id="11" name="Text 7"/>
          <p:cNvSpPr/>
          <p:nvPr/>
        </p:nvSpPr>
        <p:spPr>
          <a:xfrm>
            <a:off x="548640" y="1051560"/>
            <a:ext cx="7772400" cy="777240"/>
          </a:xfrm>
          <a:prstGeom prst="rect">
            <a:avLst/>
          </a:prstGeom>
          <a:noFill/>
          <a:ln/>
        </p:spPr>
        <p:txBody>
          <a:bodyPr wrap="square" rtlCol="0" anchor="ctr"/>
          <a:lstStyle/>
          <a:p>
            <a:pPr marL="0" indent="0">
              <a:buNone/>
            </a:pPr>
            <a:r>
              <a:rPr lang="en-US" sz="5800" b="1" kern="0" spc="200" dirty="0">
                <a:solidFill>
                  <a:srgbClr val="F1F5FB"/>
                </a:solidFill>
                <a:latin typeface="Calibri" pitchFamily="34" charset="0"/>
                <a:ea typeface="Calibri" pitchFamily="34" charset="-122"/>
                <a:cs typeface="Calibri" pitchFamily="34" charset="-120"/>
              </a:rPr>
              <a:t>GRADUATION</a:t>
            </a:r>
            <a:endParaRPr lang="en-US" sz="5800" dirty="0"/>
          </a:p>
        </p:txBody>
      </p:sp>
      <p:sp>
        <p:nvSpPr>
          <p:cNvPr id="12" name="Text 8"/>
          <p:cNvSpPr/>
          <p:nvPr/>
        </p:nvSpPr>
        <p:spPr>
          <a:xfrm>
            <a:off x="548640" y="1755648"/>
            <a:ext cx="7772400" cy="777240"/>
          </a:xfrm>
          <a:prstGeom prst="rect">
            <a:avLst/>
          </a:prstGeom>
          <a:noFill/>
          <a:ln/>
        </p:spPr>
        <p:txBody>
          <a:bodyPr wrap="square" rtlCol="0" anchor="ctr"/>
          <a:lstStyle/>
          <a:p>
            <a:pPr marL="0" indent="0">
              <a:buNone/>
            </a:pPr>
            <a:r>
              <a:rPr lang="en-US" sz="5800" b="1" kern="0" spc="200" dirty="0">
                <a:solidFill>
                  <a:srgbClr val="6C63FF"/>
                </a:solidFill>
                <a:latin typeface="Calibri" pitchFamily="34" charset="0"/>
                <a:ea typeface="Calibri" pitchFamily="34" charset="-122"/>
                <a:cs typeface="Calibri" pitchFamily="34" charset="-120"/>
              </a:rPr>
              <a:t>PROJECT</a:t>
            </a:r>
            <a:endParaRPr lang="en-US" sz="5800" dirty="0"/>
          </a:p>
        </p:txBody>
      </p:sp>
      <p:sp>
        <p:nvSpPr>
          <p:cNvPr id="13" name="Text 9"/>
          <p:cNvSpPr/>
          <p:nvPr/>
        </p:nvSpPr>
        <p:spPr>
          <a:xfrm>
            <a:off x="548640" y="2651760"/>
            <a:ext cx="5486400" cy="411480"/>
          </a:xfrm>
          <a:prstGeom prst="rect">
            <a:avLst/>
          </a:prstGeom>
          <a:noFill/>
          <a:ln/>
        </p:spPr>
        <p:txBody>
          <a:bodyPr wrap="square" rtlCol="0" anchor="ctr"/>
          <a:lstStyle/>
          <a:p>
            <a:pPr marL="0" indent="0">
              <a:buNone/>
            </a:pPr>
            <a:r>
              <a:rPr lang="en-US" sz="1400" kern="0" spc="100" dirty="0">
                <a:solidFill>
                  <a:srgbClr val="8892A4"/>
                </a:solidFill>
                <a:latin typeface="Calibri" pitchFamily="34" charset="0"/>
                <a:ea typeface="Calibri" pitchFamily="34" charset="-122"/>
                <a:cs typeface="Calibri" pitchFamily="34" charset="-120"/>
              </a:rPr>
              <a:t>Powerful  •  Modern  •  Premium</a:t>
            </a:r>
            <a:endParaRPr lang="en-US" sz="1400" dirty="0"/>
          </a:p>
        </p:txBody>
      </p:sp>
      <p:sp>
        <p:nvSpPr>
          <p:cNvPr id="14" name="Shape 10"/>
          <p:cNvSpPr/>
          <p:nvPr/>
        </p:nvSpPr>
        <p:spPr>
          <a:xfrm>
            <a:off x="548640" y="4187952"/>
            <a:ext cx="1828800" cy="365760"/>
          </a:xfrm>
          <a:prstGeom prst="roundRect">
            <a:avLst>
              <a:gd name="adj" fmla="val 12500"/>
            </a:avLst>
          </a:prstGeom>
          <a:solidFill>
            <a:srgbClr val="6C63FF">
              <a:alpha val="20000"/>
            </a:srgbClr>
          </a:solidFill>
          <a:ln w="12700">
            <a:solidFill>
              <a:srgbClr val="6C63FF"/>
            </a:solidFill>
            <a:prstDash val="solid"/>
          </a:ln>
        </p:spPr>
        <p:txBody>
          <a:bodyPr/>
          <a:lstStyle/>
          <a:p>
            <a:endParaRPr lang="en-US"/>
          </a:p>
        </p:txBody>
      </p:sp>
      <p:sp>
        <p:nvSpPr>
          <p:cNvPr id="15" name="Text 11"/>
          <p:cNvSpPr/>
          <p:nvPr/>
        </p:nvSpPr>
        <p:spPr>
          <a:xfrm>
            <a:off x="548640" y="4187952"/>
            <a:ext cx="1828800" cy="365760"/>
          </a:xfrm>
          <a:prstGeom prst="rect">
            <a:avLst/>
          </a:prstGeom>
          <a:noFill/>
          <a:ln/>
        </p:spPr>
        <p:txBody>
          <a:bodyPr wrap="square" rtlCol="0" anchor="ctr"/>
          <a:lstStyle/>
          <a:p>
            <a:pPr marL="0" indent="0" algn="ctr">
              <a:buNone/>
            </a:pPr>
            <a:r>
              <a:rPr lang="en-US" sz="1100" b="1" dirty="0">
                <a:solidFill>
                  <a:srgbClr val="6C63FF"/>
                </a:solidFill>
                <a:latin typeface="Calibri" pitchFamily="34" charset="0"/>
                <a:ea typeface="Calibri" pitchFamily="34" charset="-122"/>
                <a:cs typeface="Calibri" pitchFamily="34" charset="-120"/>
              </a:rPr>
              <a:t>Testing</a:t>
            </a:r>
            <a:endParaRPr lang="en-US" sz="1100" dirty="0"/>
          </a:p>
        </p:txBody>
      </p:sp>
      <p:sp>
        <p:nvSpPr>
          <p:cNvPr id="16" name="Shape 12"/>
          <p:cNvSpPr/>
          <p:nvPr/>
        </p:nvSpPr>
        <p:spPr>
          <a:xfrm>
            <a:off x="2651760" y="4187952"/>
            <a:ext cx="1828800" cy="365760"/>
          </a:xfrm>
          <a:prstGeom prst="roundRect">
            <a:avLst>
              <a:gd name="adj" fmla="val 12500"/>
            </a:avLst>
          </a:prstGeom>
          <a:solidFill>
            <a:srgbClr val="4FC3F7">
              <a:alpha val="20000"/>
            </a:srgbClr>
          </a:solidFill>
          <a:ln w="12700">
            <a:solidFill>
              <a:srgbClr val="4FC3F7"/>
            </a:solidFill>
            <a:prstDash val="solid"/>
          </a:ln>
        </p:spPr>
        <p:txBody>
          <a:bodyPr/>
          <a:lstStyle/>
          <a:p>
            <a:endParaRPr lang="en-US"/>
          </a:p>
        </p:txBody>
      </p:sp>
      <p:sp>
        <p:nvSpPr>
          <p:cNvPr id="17" name="Text 13"/>
          <p:cNvSpPr/>
          <p:nvPr/>
        </p:nvSpPr>
        <p:spPr>
          <a:xfrm>
            <a:off x="2651760" y="4187952"/>
            <a:ext cx="1828800" cy="365760"/>
          </a:xfrm>
          <a:prstGeom prst="rect">
            <a:avLst/>
          </a:prstGeom>
          <a:noFill/>
          <a:ln/>
        </p:spPr>
        <p:txBody>
          <a:bodyPr wrap="square" rtlCol="0" anchor="ctr"/>
          <a:lstStyle/>
          <a:p>
            <a:pPr marL="0" indent="0" algn="ctr">
              <a:buNone/>
            </a:pPr>
            <a:r>
              <a:rPr lang="en-US" sz="1100" b="1" dirty="0">
                <a:solidFill>
                  <a:srgbClr val="4FC3F7"/>
                </a:solidFill>
                <a:latin typeface="Calibri" pitchFamily="34" charset="0"/>
                <a:ea typeface="Calibri" pitchFamily="34" charset="-122"/>
                <a:cs typeface="Calibri" pitchFamily="34" charset="-120"/>
              </a:rPr>
              <a:t>QA Engineering</a:t>
            </a:r>
            <a:endParaRPr lang="en-US" sz="1100" dirty="0"/>
          </a:p>
        </p:txBody>
      </p:sp>
      <p:sp>
        <p:nvSpPr>
          <p:cNvPr id="18" name="Shape 14"/>
          <p:cNvSpPr/>
          <p:nvPr/>
        </p:nvSpPr>
        <p:spPr>
          <a:xfrm>
            <a:off x="4754880" y="4187952"/>
            <a:ext cx="1828800" cy="365760"/>
          </a:xfrm>
          <a:prstGeom prst="roundRect">
            <a:avLst>
              <a:gd name="adj" fmla="val 12500"/>
            </a:avLst>
          </a:prstGeom>
          <a:solidFill>
            <a:srgbClr val="00E676">
              <a:alpha val="20000"/>
            </a:srgbClr>
          </a:solidFill>
          <a:ln w="12700">
            <a:solidFill>
              <a:srgbClr val="00E676"/>
            </a:solidFill>
            <a:prstDash val="solid"/>
          </a:ln>
        </p:spPr>
        <p:txBody>
          <a:bodyPr/>
          <a:lstStyle/>
          <a:p>
            <a:endParaRPr lang="en-US"/>
          </a:p>
        </p:txBody>
      </p:sp>
      <p:sp>
        <p:nvSpPr>
          <p:cNvPr id="19" name="Text 15"/>
          <p:cNvSpPr/>
          <p:nvPr/>
        </p:nvSpPr>
        <p:spPr>
          <a:xfrm>
            <a:off x="4754880" y="4187952"/>
            <a:ext cx="1828800" cy="365760"/>
          </a:xfrm>
          <a:prstGeom prst="rect">
            <a:avLst/>
          </a:prstGeom>
          <a:noFill/>
          <a:ln/>
        </p:spPr>
        <p:txBody>
          <a:bodyPr wrap="square" rtlCol="0" anchor="ctr"/>
          <a:lstStyle/>
          <a:p>
            <a:pPr marL="0" indent="0" algn="ctr">
              <a:buNone/>
            </a:pPr>
            <a:r>
              <a:rPr lang="en-US" sz="1100" b="1" dirty="0">
                <a:solidFill>
                  <a:srgbClr val="00E676"/>
                </a:solidFill>
                <a:latin typeface="Calibri" pitchFamily="34" charset="0"/>
                <a:ea typeface="Calibri" pitchFamily="34" charset="-122"/>
                <a:cs typeface="Calibri" pitchFamily="34" charset="-120"/>
              </a:rPr>
              <a:t>2025 / 2026</a:t>
            </a:r>
            <a:endParaRPr lang="en-US" sz="1100" dirty="0"/>
          </a:p>
        </p:txBody>
      </p:sp>
      <p:sp>
        <p:nvSpPr>
          <p:cNvPr id="20" name="Shape 16"/>
          <p:cNvSpPr/>
          <p:nvPr/>
        </p:nvSpPr>
        <p:spPr>
          <a:xfrm>
            <a:off x="6903720" y="4069080"/>
            <a:ext cx="2148840" cy="621792"/>
          </a:xfrm>
          <a:prstGeom prst="roundRect">
            <a:avLst>
              <a:gd name="adj" fmla="val 11765"/>
            </a:avLst>
          </a:prstGeom>
          <a:solidFill>
            <a:srgbClr val="6C63FF">
              <a:alpha val="85000"/>
            </a:srgbClr>
          </a:solidFill>
          <a:ln w="19050">
            <a:solidFill>
              <a:srgbClr val="6C63FF"/>
            </a:solidFill>
            <a:prstDash val="solid"/>
          </a:ln>
        </p:spPr>
        <p:txBody>
          <a:bodyPr/>
          <a:lstStyle/>
          <a:p>
            <a:endParaRPr lang="en-US"/>
          </a:p>
        </p:txBody>
      </p:sp>
      <p:sp>
        <p:nvSpPr>
          <p:cNvPr id="21" name="Text 17"/>
          <p:cNvSpPr/>
          <p:nvPr/>
        </p:nvSpPr>
        <p:spPr>
          <a:xfrm>
            <a:off x="6903720" y="4087368"/>
            <a:ext cx="2148840" cy="310896"/>
          </a:xfrm>
          <a:prstGeom prst="rect">
            <a:avLst/>
          </a:prstGeom>
          <a:noFill/>
          <a:ln/>
        </p:spPr>
        <p:txBody>
          <a:bodyPr wrap="square" rtlCol="0" anchor="ctr"/>
          <a:lstStyle/>
          <a:p>
            <a:pPr marL="0" indent="0" algn="ctr">
              <a:buNone/>
            </a:pPr>
            <a:r>
              <a:rPr lang="en-US" sz="1200" b="1" kern="0" spc="100" dirty="0">
                <a:solidFill>
                  <a:srgbClr val="F1F5FB"/>
                </a:solidFill>
                <a:latin typeface="Calibri" pitchFamily="34" charset="0"/>
                <a:ea typeface="Calibri" pitchFamily="34" charset="-122"/>
                <a:cs typeface="Calibri" pitchFamily="34" charset="-120"/>
              </a:rPr>
              <a:t>CAI4_SWD6_S6</a:t>
            </a:r>
            <a:endParaRPr lang="en-US" sz="1200" dirty="0"/>
          </a:p>
        </p:txBody>
      </p:sp>
      <p:sp>
        <p:nvSpPr>
          <p:cNvPr id="22" name="Text 18"/>
          <p:cNvSpPr/>
          <p:nvPr/>
        </p:nvSpPr>
        <p:spPr>
          <a:xfrm>
            <a:off x="6903720" y="4398264"/>
            <a:ext cx="2148840" cy="256032"/>
          </a:xfrm>
          <a:prstGeom prst="rect">
            <a:avLst/>
          </a:prstGeom>
          <a:noFill/>
          <a:ln/>
        </p:spPr>
        <p:txBody>
          <a:bodyPr wrap="square" rtlCol="0" anchor="ctr"/>
          <a:lstStyle/>
          <a:p>
            <a:pPr marL="0" indent="0" algn="ctr">
              <a:buNone/>
            </a:pPr>
            <a:r>
              <a:rPr lang="en-US" sz="1000" dirty="0">
                <a:solidFill>
                  <a:srgbClr val="4FC3F7"/>
                </a:solidFill>
                <a:latin typeface="Calibri" pitchFamily="34" charset="0"/>
                <a:ea typeface="Calibri" pitchFamily="34" charset="-122"/>
                <a:cs typeface="Calibri" pitchFamily="34" charset="-120"/>
              </a:rPr>
              <a:t>Software Testing</a:t>
            </a:r>
            <a:endParaRPr lang="en-US" sz="1000" dirty="0"/>
          </a:p>
        </p:txBody>
      </p:sp>
      <p:sp>
        <p:nvSpPr>
          <p:cNvPr id="23" name="Shape 19"/>
          <p:cNvSpPr/>
          <p:nvPr/>
        </p:nvSpPr>
        <p:spPr>
          <a:xfrm>
            <a:off x="0" y="4773168"/>
            <a:ext cx="9144000" cy="370332"/>
          </a:xfrm>
          <a:prstGeom prst="rect">
            <a:avLst/>
          </a:prstGeom>
          <a:solidFill>
            <a:srgbClr val="141B2D"/>
          </a:solidFill>
          <a:ln w="12700">
            <a:solidFill>
              <a:srgbClr val="1E2D4A"/>
            </a:solidFill>
            <a:prstDash val="solid"/>
          </a:ln>
        </p:spPr>
        <p:txBody>
          <a:bodyPr/>
          <a:lstStyle/>
          <a:p>
            <a:endParaRPr lang="en-US"/>
          </a:p>
        </p:txBody>
      </p:sp>
      <p:sp>
        <p:nvSpPr>
          <p:cNvPr id="24" name="Text 20"/>
          <p:cNvSpPr/>
          <p:nvPr/>
        </p:nvSpPr>
        <p:spPr>
          <a:xfrm>
            <a:off x="274320" y="4773168"/>
            <a:ext cx="8595360" cy="370332"/>
          </a:xfrm>
          <a:prstGeom prst="rect">
            <a:avLst/>
          </a:prstGeom>
          <a:noFill/>
          <a:ln/>
        </p:spPr>
        <p:txBody>
          <a:bodyPr wrap="square" lIns="91440" tIns="45720" rIns="91440" bIns="45720" rtlCol="0" anchor="ctr"/>
          <a:lstStyle/>
          <a:p>
            <a:pPr algn="ctr" rtl="1"/>
            <a:r>
              <a:rPr lang="en-US" sz="1200">
                <a:solidFill>
                  <a:srgbClr val="FFB300"/>
                </a:solidFill>
                <a:ea typeface="+mn-lt"/>
                <a:cs typeface="+mn-lt"/>
              </a:rPr>
              <a:t>Appreciation to the Initiative Management &amp; ITC</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1A"/>
        </a:solidFill>
        <a:effectLst/>
      </p:bgPr>
    </p:bg>
    <p:spTree>
      <p:nvGrpSpPr>
        <p:cNvPr id="1" name=""/>
        <p:cNvGrpSpPr/>
        <p:nvPr/>
      </p:nvGrpSpPr>
      <p:grpSpPr>
        <a:xfrm>
          <a:off x="0" y="0"/>
          <a:ext cx="0" cy="0"/>
          <a:chOff x="0" y="0"/>
          <a:chExt cx="0" cy="0"/>
        </a:xfrm>
      </p:grpSpPr>
      <p:sp>
        <p:nvSpPr>
          <p:cNvPr id="4" name="Shape 0"/>
          <p:cNvSpPr/>
          <p:nvPr/>
        </p:nvSpPr>
        <p:spPr>
          <a:xfrm>
            <a:off x="0" y="178676"/>
            <a:ext cx="2926080" cy="4964823"/>
          </a:xfrm>
          <a:prstGeom prst="rect">
            <a:avLst/>
          </a:prstGeom>
          <a:solidFill>
            <a:srgbClr val="141B2D"/>
          </a:solidFill>
          <a:ln w="12700">
            <a:solidFill>
              <a:srgbClr val="1E2D4A"/>
            </a:solidFill>
            <a:prstDash val="solid"/>
          </a:ln>
        </p:spPr>
        <p:txBody>
          <a:bodyPr/>
          <a:lstStyle/>
          <a:p>
            <a:endParaRPr lang="en-US"/>
          </a:p>
        </p:txBody>
      </p:sp>
      <p:pic>
        <p:nvPicPr>
          <p:cNvPr id="2" name="Image 0" descr="preencoded.png"/>
          <p:cNvPicPr>
            <a:picLocks noChangeAspect="1"/>
          </p:cNvPicPr>
          <p:nvPr/>
        </p:nvPicPr>
        <p:blipFill>
          <a:blip r:embed="rId3"/>
          <a:stretch>
            <a:fillRect/>
          </a:stretch>
        </p:blipFill>
        <p:spPr>
          <a:xfrm>
            <a:off x="109728" y="73152"/>
            <a:ext cx="658368" cy="658368"/>
          </a:xfrm>
          <a:prstGeom prst="ellipse">
            <a:avLst/>
          </a:prstGeom>
        </p:spPr>
      </p:pic>
      <p:pic>
        <p:nvPicPr>
          <p:cNvPr id="3" name="Image 1" descr="preencoded.png"/>
          <p:cNvPicPr>
            <a:picLocks noChangeAspect="1"/>
          </p:cNvPicPr>
          <p:nvPr/>
        </p:nvPicPr>
        <p:blipFill>
          <a:blip r:embed="rId4"/>
          <a:stretch>
            <a:fillRect/>
          </a:stretch>
        </p:blipFill>
        <p:spPr>
          <a:xfrm>
            <a:off x="8375904" y="73152"/>
            <a:ext cx="658368" cy="658368"/>
          </a:xfrm>
          <a:prstGeom prst="rect">
            <a:avLst/>
          </a:prstGeom>
        </p:spPr>
      </p:pic>
      <p:sp>
        <p:nvSpPr>
          <p:cNvPr id="5" name="Shape 1"/>
          <p:cNvSpPr/>
          <p:nvPr/>
        </p:nvSpPr>
        <p:spPr>
          <a:xfrm>
            <a:off x="0" y="0"/>
            <a:ext cx="54864" cy="5143500"/>
          </a:xfrm>
          <a:prstGeom prst="rect">
            <a:avLst/>
          </a:prstGeom>
          <a:solidFill>
            <a:srgbClr val="6C63FF"/>
          </a:solidFill>
          <a:ln w="12700">
            <a:solidFill>
              <a:srgbClr val="6C63FF"/>
            </a:solidFill>
            <a:prstDash val="solid"/>
          </a:ln>
        </p:spPr>
        <p:txBody>
          <a:bodyPr/>
          <a:lstStyle/>
          <a:p>
            <a:endParaRPr lang="en-US"/>
          </a:p>
        </p:txBody>
      </p:sp>
      <p:sp>
        <p:nvSpPr>
          <p:cNvPr id="6" name="Text 2"/>
          <p:cNvSpPr/>
          <p:nvPr/>
        </p:nvSpPr>
        <p:spPr>
          <a:xfrm>
            <a:off x="182880" y="562356"/>
            <a:ext cx="2560320" cy="534924"/>
          </a:xfrm>
          <a:prstGeom prst="rect">
            <a:avLst/>
          </a:prstGeom>
          <a:noFill/>
          <a:ln/>
        </p:spPr>
        <p:txBody>
          <a:bodyPr wrap="square" rtlCol="0" anchor="ctr"/>
          <a:lstStyle/>
          <a:p>
            <a:pPr marL="0" indent="0">
              <a:buNone/>
            </a:pPr>
            <a:r>
              <a:rPr lang="en-US" sz="2800" b="1" kern="0" spc="300" dirty="0">
                <a:solidFill>
                  <a:srgbClr val="F1F5FB"/>
                </a:solidFill>
                <a:latin typeface="Calibri" pitchFamily="34" charset="0"/>
                <a:ea typeface="Calibri" pitchFamily="34" charset="-122"/>
                <a:cs typeface="Calibri" pitchFamily="34" charset="-120"/>
              </a:rPr>
              <a:t>AGENDA</a:t>
            </a:r>
            <a:endParaRPr lang="en-US" sz="2800" dirty="0"/>
          </a:p>
        </p:txBody>
      </p:sp>
      <p:sp>
        <p:nvSpPr>
          <p:cNvPr id="7" name="Text 3"/>
          <p:cNvSpPr/>
          <p:nvPr/>
        </p:nvSpPr>
        <p:spPr>
          <a:xfrm>
            <a:off x="182880" y="1051560"/>
            <a:ext cx="2560320" cy="365760"/>
          </a:xfrm>
          <a:prstGeom prst="rect">
            <a:avLst/>
          </a:prstGeom>
          <a:noFill/>
          <a:ln/>
        </p:spPr>
        <p:txBody>
          <a:bodyPr wrap="square" rtlCol="0" anchor="ctr"/>
          <a:lstStyle/>
          <a:p>
            <a:pPr marL="0" indent="0">
              <a:buNone/>
            </a:pPr>
            <a:r>
              <a:rPr lang="en-US" sz="1000" dirty="0">
                <a:solidFill>
                  <a:srgbClr val="8892A4"/>
                </a:solidFill>
                <a:latin typeface="Calibri" pitchFamily="34" charset="0"/>
                <a:ea typeface="Calibri" pitchFamily="34" charset="-122"/>
                <a:cs typeface="Calibri" pitchFamily="34" charset="-120"/>
              </a:rPr>
              <a:t>What we'll cover today</a:t>
            </a:r>
            <a:endParaRPr lang="en-US" sz="1000" dirty="0"/>
          </a:p>
        </p:txBody>
      </p:sp>
      <p:sp>
        <p:nvSpPr>
          <p:cNvPr id="8" name="Shape 4"/>
          <p:cNvSpPr/>
          <p:nvPr/>
        </p:nvSpPr>
        <p:spPr>
          <a:xfrm>
            <a:off x="182880" y="1417320"/>
            <a:ext cx="2377440" cy="0"/>
          </a:xfrm>
          <a:prstGeom prst="line">
            <a:avLst/>
          </a:prstGeom>
          <a:noFill/>
          <a:ln w="12700">
            <a:solidFill>
              <a:srgbClr val="6C63FF"/>
            </a:solidFill>
            <a:prstDash val="solid"/>
          </a:ln>
        </p:spPr>
        <p:txBody>
          <a:bodyPr/>
          <a:lstStyle/>
          <a:p>
            <a:endParaRPr lang="en-US"/>
          </a:p>
        </p:txBody>
      </p:sp>
      <p:sp>
        <p:nvSpPr>
          <p:cNvPr id="9" name="Shape 5"/>
          <p:cNvSpPr/>
          <p:nvPr/>
        </p:nvSpPr>
        <p:spPr>
          <a:xfrm>
            <a:off x="164592" y="1600200"/>
            <a:ext cx="2514600" cy="420624"/>
          </a:xfrm>
          <a:prstGeom prst="roundRect">
            <a:avLst>
              <a:gd name="adj" fmla="val 10870"/>
            </a:avLst>
          </a:prstGeom>
          <a:solidFill>
            <a:srgbClr val="6C63FF"/>
          </a:solidFill>
          <a:ln w="12700">
            <a:solidFill>
              <a:srgbClr val="6C63FF"/>
            </a:solidFill>
            <a:prstDash val="solid"/>
          </a:ln>
        </p:spPr>
        <p:txBody>
          <a:bodyPr/>
          <a:lstStyle/>
          <a:p>
            <a:endParaRPr lang="en-US"/>
          </a:p>
        </p:txBody>
      </p:sp>
      <p:sp>
        <p:nvSpPr>
          <p:cNvPr id="10" name="Text 6"/>
          <p:cNvSpPr/>
          <p:nvPr/>
        </p:nvSpPr>
        <p:spPr>
          <a:xfrm>
            <a:off x="201168" y="1600200"/>
            <a:ext cx="2468880" cy="420624"/>
          </a:xfrm>
          <a:prstGeom prst="rect">
            <a:avLst/>
          </a:prstGeom>
          <a:noFill/>
          <a:ln/>
        </p:spPr>
        <p:txBody>
          <a:bodyPr wrap="square" lIns="101600" tIns="101600" rIns="101600" bIns="101600" rtlCol="0" anchor="ctr"/>
          <a:lstStyle/>
          <a:p>
            <a:pPr marL="0" indent="0">
              <a:buNone/>
            </a:pPr>
            <a:r>
              <a:rPr lang="en-US" sz="1200" b="1" dirty="0">
                <a:solidFill>
                  <a:srgbClr val="F1F5FB"/>
                </a:solidFill>
                <a:latin typeface="Calibri" pitchFamily="34" charset="0"/>
                <a:ea typeface="Calibri" pitchFamily="34" charset="-122"/>
                <a:cs typeface="Calibri" pitchFamily="34" charset="-120"/>
              </a:rPr>
              <a:t>01  Introduction</a:t>
            </a:r>
            <a:endParaRPr lang="en-US" sz="1200" dirty="0"/>
          </a:p>
        </p:txBody>
      </p:sp>
      <p:sp>
        <p:nvSpPr>
          <p:cNvPr id="11" name="Shape 7"/>
          <p:cNvSpPr/>
          <p:nvPr/>
        </p:nvSpPr>
        <p:spPr>
          <a:xfrm>
            <a:off x="164592" y="2112264"/>
            <a:ext cx="2514600" cy="420624"/>
          </a:xfrm>
          <a:prstGeom prst="roundRect">
            <a:avLst>
              <a:gd name="adj" fmla="val 10870"/>
            </a:avLst>
          </a:prstGeom>
          <a:solidFill>
            <a:srgbClr val="0F1526"/>
          </a:solidFill>
          <a:ln w="12700">
            <a:solidFill>
              <a:srgbClr val="1E2D4A"/>
            </a:solidFill>
            <a:prstDash val="solid"/>
          </a:ln>
        </p:spPr>
        <p:txBody>
          <a:bodyPr/>
          <a:lstStyle/>
          <a:p>
            <a:endParaRPr lang="en-US"/>
          </a:p>
        </p:txBody>
      </p:sp>
      <p:sp>
        <p:nvSpPr>
          <p:cNvPr id="12" name="Text 8"/>
          <p:cNvSpPr/>
          <p:nvPr/>
        </p:nvSpPr>
        <p:spPr>
          <a:xfrm>
            <a:off x="201168" y="2112264"/>
            <a:ext cx="2468880" cy="420624"/>
          </a:xfrm>
          <a:prstGeom prst="rect">
            <a:avLst/>
          </a:prstGeom>
          <a:noFill/>
          <a:ln/>
        </p:spPr>
        <p:txBody>
          <a:bodyPr wrap="square" lIns="101600" tIns="101600" rIns="101600" bIns="101600" rtlCol="0" anchor="ctr"/>
          <a:lstStyle/>
          <a:p>
            <a:pPr marL="0" indent="0">
              <a:buNone/>
            </a:pPr>
            <a:r>
              <a:rPr lang="en-US" sz="1200" dirty="0">
                <a:solidFill>
                  <a:srgbClr val="8892A4"/>
                </a:solidFill>
                <a:latin typeface="Calibri" pitchFamily="34" charset="0"/>
                <a:ea typeface="Calibri" pitchFamily="34" charset="-122"/>
                <a:cs typeface="Calibri" pitchFamily="34" charset="-120"/>
              </a:rPr>
              <a:t>02  Project Overview</a:t>
            </a:r>
            <a:endParaRPr lang="en-US" sz="1200" dirty="0"/>
          </a:p>
        </p:txBody>
      </p:sp>
      <p:sp>
        <p:nvSpPr>
          <p:cNvPr id="13" name="Shape 9"/>
          <p:cNvSpPr/>
          <p:nvPr/>
        </p:nvSpPr>
        <p:spPr>
          <a:xfrm>
            <a:off x="164592" y="2624328"/>
            <a:ext cx="2514600" cy="420624"/>
          </a:xfrm>
          <a:prstGeom prst="roundRect">
            <a:avLst>
              <a:gd name="adj" fmla="val 10870"/>
            </a:avLst>
          </a:prstGeom>
          <a:solidFill>
            <a:srgbClr val="0F1526"/>
          </a:solidFill>
          <a:ln w="12700">
            <a:solidFill>
              <a:srgbClr val="1E2D4A"/>
            </a:solidFill>
            <a:prstDash val="solid"/>
          </a:ln>
        </p:spPr>
        <p:txBody>
          <a:bodyPr/>
          <a:lstStyle/>
          <a:p>
            <a:endParaRPr lang="en-US"/>
          </a:p>
        </p:txBody>
      </p:sp>
      <p:sp>
        <p:nvSpPr>
          <p:cNvPr id="14" name="Text 10"/>
          <p:cNvSpPr/>
          <p:nvPr/>
        </p:nvSpPr>
        <p:spPr>
          <a:xfrm>
            <a:off x="201168" y="2624328"/>
            <a:ext cx="2468880" cy="420624"/>
          </a:xfrm>
          <a:prstGeom prst="rect">
            <a:avLst/>
          </a:prstGeom>
          <a:noFill/>
          <a:ln/>
        </p:spPr>
        <p:txBody>
          <a:bodyPr wrap="square" lIns="101600" tIns="101600" rIns="101600" bIns="101600" rtlCol="0" anchor="ctr"/>
          <a:lstStyle/>
          <a:p>
            <a:pPr marL="0" indent="0">
              <a:buNone/>
            </a:pPr>
            <a:r>
              <a:rPr lang="en-US" sz="1200" dirty="0">
                <a:solidFill>
                  <a:srgbClr val="8892A4"/>
                </a:solidFill>
                <a:latin typeface="Calibri" pitchFamily="34" charset="0"/>
                <a:ea typeface="Calibri" pitchFamily="34" charset="-122"/>
                <a:cs typeface="Calibri" pitchFamily="34" charset="-120"/>
              </a:rPr>
              <a:t>03  Testing Challenges</a:t>
            </a:r>
            <a:endParaRPr lang="en-US" sz="1200" dirty="0"/>
          </a:p>
        </p:txBody>
      </p:sp>
      <p:sp>
        <p:nvSpPr>
          <p:cNvPr id="15" name="Shape 11"/>
          <p:cNvSpPr/>
          <p:nvPr/>
        </p:nvSpPr>
        <p:spPr>
          <a:xfrm>
            <a:off x="164592" y="3136392"/>
            <a:ext cx="2514600" cy="420624"/>
          </a:xfrm>
          <a:prstGeom prst="roundRect">
            <a:avLst>
              <a:gd name="adj" fmla="val 10870"/>
            </a:avLst>
          </a:prstGeom>
          <a:solidFill>
            <a:srgbClr val="0F1526"/>
          </a:solidFill>
          <a:ln w="12700">
            <a:solidFill>
              <a:srgbClr val="1E2D4A"/>
            </a:solidFill>
            <a:prstDash val="solid"/>
          </a:ln>
        </p:spPr>
        <p:txBody>
          <a:bodyPr/>
          <a:lstStyle/>
          <a:p>
            <a:endParaRPr lang="en-US"/>
          </a:p>
        </p:txBody>
      </p:sp>
      <p:sp>
        <p:nvSpPr>
          <p:cNvPr id="16" name="Text 12"/>
          <p:cNvSpPr/>
          <p:nvPr/>
        </p:nvSpPr>
        <p:spPr>
          <a:xfrm>
            <a:off x="201168" y="3136392"/>
            <a:ext cx="2468880" cy="420624"/>
          </a:xfrm>
          <a:prstGeom prst="rect">
            <a:avLst/>
          </a:prstGeom>
          <a:noFill/>
          <a:ln/>
        </p:spPr>
        <p:txBody>
          <a:bodyPr wrap="square" lIns="101600" tIns="101600" rIns="101600" bIns="101600" rtlCol="0" anchor="ctr"/>
          <a:lstStyle/>
          <a:p>
            <a:pPr marL="0" indent="0">
              <a:buNone/>
            </a:pPr>
            <a:r>
              <a:rPr lang="en-US" sz="1200" dirty="0">
                <a:solidFill>
                  <a:srgbClr val="8892A4"/>
                </a:solidFill>
                <a:latin typeface="Calibri" pitchFamily="34" charset="0"/>
                <a:ea typeface="Calibri" pitchFamily="34" charset="-122"/>
                <a:cs typeface="Calibri" pitchFamily="34" charset="-120"/>
              </a:rPr>
              <a:t>04  QA Approach</a:t>
            </a:r>
            <a:endParaRPr lang="en-US" sz="1200" dirty="0"/>
          </a:p>
        </p:txBody>
      </p:sp>
      <p:sp>
        <p:nvSpPr>
          <p:cNvPr id="17" name="Shape 13"/>
          <p:cNvSpPr/>
          <p:nvPr/>
        </p:nvSpPr>
        <p:spPr>
          <a:xfrm>
            <a:off x="164592" y="3648456"/>
            <a:ext cx="2514600" cy="420624"/>
          </a:xfrm>
          <a:prstGeom prst="roundRect">
            <a:avLst>
              <a:gd name="adj" fmla="val 10870"/>
            </a:avLst>
          </a:prstGeom>
          <a:solidFill>
            <a:srgbClr val="0F1526"/>
          </a:solidFill>
          <a:ln w="12700">
            <a:solidFill>
              <a:srgbClr val="1E2D4A"/>
            </a:solidFill>
            <a:prstDash val="solid"/>
          </a:ln>
        </p:spPr>
        <p:txBody>
          <a:bodyPr/>
          <a:lstStyle/>
          <a:p>
            <a:endParaRPr lang="en-US"/>
          </a:p>
        </p:txBody>
      </p:sp>
      <p:sp>
        <p:nvSpPr>
          <p:cNvPr id="18" name="Text 14"/>
          <p:cNvSpPr/>
          <p:nvPr/>
        </p:nvSpPr>
        <p:spPr>
          <a:xfrm>
            <a:off x="201168" y="3648456"/>
            <a:ext cx="2468880" cy="420624"/>
          </a:xfrm>
          <a:prstGeom prst="rect">
            <a:avLst/>
          </a:prstGeom>
          <a:noFill/>
          <a:ln/>
        </p:spPr>
        <p:txBody>
          <a:bodyPr wrap="square" lIns="101600" tIns="101600" rIns="101600" bIns="101600" rtlCol="0" anchor="ctr"/>
          <a:lstStyle/>
          <a:p>
            <a:pPr marL="0" indent="0">
              <a:buNone/>
            </a:pPr>
            <a:r>
              <a:rPr lang="en-US" sz="1200" dirty="0">
                <a:solidFill>
                  <a:srgbClr val="8892A4"/>
                </a:solidFill>
                <a:latin typeface="Calibri" pitchFamily="34" charset="0"/>
                <a:ea typeface="Calibri" pitchFamily="34" charset="-122"/>
                <a:cs typeface="Calibri" pitchFamily="34" charset="-120"/>
              </a:rPr>
              <a:t>05  Test Coverage</a:t>
            </a:r>
            <a:endParaRPr lang="en-US" sz="1200" dirty="0"/>
          </a:p>
        </p:txBody>
      </p:sp>
      <p:sp>
        <p:nvSpPr>
          <p:cNvPr id="19" name="Shape 15"/>
          <p:cNvSpPr/>
          <p:nvPr/>
        </p:nvSpPr>
        <p:spPr>
          <a:xfrm>
            <a:off x="164592" y="4160520"/>
            <a:ext cx="2514600" cy="420624"/>
          </a:xfrm>
          <a:prstGeom prst="roundRect">
            <a:avLst>
              <a:gd name="adj" fmla="val 10870"/>
            </a:avLst>
          </a:prstGeom>
          <a:solidFill>
            <a:srgbClr val="0F1526"/>
          </a:solidFill>
          <a:ln w="12700">
            <a:solidFill>
              <a:srgbClr val="1E2D4A"/>
            </a:solidFill>
            <a:prstDash val="solid"/>
          </a:ln>
        </p:spPr>
        <p:txBody>
          <a:bodyPr/>
          <a:lstStyle/>
          <a:p>
            <a:endParaRPr lang="en-US"/>
          </a:p>
        </p:txBody>
      </p:sp>
      <p:sp>
        <p:nvSpPr>
          <p:cNvPr id="20" name="Text 16"/>
          <p:cNvSpPr/>
          <p:nvPr/>
        </p:nvSpPr>
        <p:spPr>
          <a:xfrm>
            <a:off x="201168" y="4160520"/>
            <a:ext cx="2468880" cy="420624"/>
          </a:xfrm>
          <a:prstGeom prst="rect">
            <a:avLst/>
          </a:prstGeom>
          <a:noFill/>
          <a:ln/>
        </p:spPr>
        <p:txBody>
          <a:bodyPr wrap="square" lIns="101600" tIns="101600" rIns="101600" bIns="101600" rtlCol="0" anchor="ctr"/>
          <a:lstStyle/>
          <a:p>
            <a:pPr marL="0" indent="0">
              <a:buNone/>
            </a:pPr>
            <a:r>
              <a:rPr lang="en-US" sz="1200" dirty="0">
                <a:solidFill>
                  <a:srgbClr val="8892A4"/>
                </a:solidFill>
                <a:latin typeface="Calibri" pitchFamily="34" charset="0"/>
                <a:ea typeface="Calibri" pitchFamily="34" charset="-122"/>
                <a:cs typeface="Calibri" pitchFamily="34" charset="-120"/>
              </a:rPr>
              <a:t>06  Conclusion</a:t>
            </a:r>
            <a:endParaRPr lang="en-US" sz="1200" dirty="0"/>
          </a:p>
        </p:txBody>
      </p:sp>
      <p:sp>
        <p:nvSpPr>
          <p:cNvPr id="21" name="Text 17"/>
          <p:cNvSpPr/>
          <p:nvPr/>
        </p:nvSpPr>
        <p:spPr>
          <a:xfrm>
            <a:off x="3200400" y="457200"/>
            <a:ext cx="5486400" cy="502920"/>
          </a:xfrm>
          <a:prstGeom prst="rect">
            <a:avLst/>
          </a:prstGeom>
          <a:noFill/>
          <a:ln/>
        </p:spPr>
        <p:txBody>
          <a:bodyPr wrap="square" rtlCol="0" anchor="ctr"/>
          <a:lstStyle/>
          <a:p>
            <a:pPr marL="0" indent="0">
              <a:buNone/>
            </a:pPr>
            <a:r>
              <a:rPr lang="en-US" sz="2200" b="1" dirty="0">
                <a:solidFill>
                  <a:srgbClr val="F1F5FB"/>
                </a:solidFill>
                <a:latin typeface="Calibri" pitchFamily="34" charset="0"/>
                <a:ea typeface="Calibri" pitchFamily="34" charset="-122"/>
                <a:cs typeface="Calibri" pitchFamily="34" charset="-120"/>
              </a:rPr>
              <a:t>Overview</a:t>
            </a:r>
            <a:endParaRPr lang="en-US" sz="2200" dirty="0"/>
          </a:p>
        </p:txBody>
      </p:sp>
      <p:sp>
        <p:nvSpPr>
          <p:cNvPr id="22" name="Shape 18"/>
          <p:cNvSpPr/>
          <p:nvPr/>
        </p:nvSpPr>
        <p:spPr>
          <a:xfrm>
            <a:off x="3200400" y="960120"/>
            <a:ext cx="5486400" cy="0"/>
          </a:xfrm>
          <a:prstGeom prst="line">
            <a:avLst/>
          </a:prstGeom>
          <a:noFill/>
          <a:ln w="6350">
            <a:solidFill>
              <a:srgbClr val="1E2D4A"/>
            </a:solidFill>
            <a:prstDash val="solid"/>
          </a:ln>
        </p:spPr>
        <p:txBody>
          <a:bodyPr/>
          <a:lstStyle/>
          <a:p>
            <a:endParaRPr lang="en-US"/>
          </a:p>
        </p:txBody>
      </p:sp>
      <p:sp>
        <p:nvSpPr>
          <p:cNvPr id="23" name="Text 19"/>
          <p:cNvSpPr/>
          <p:nvPr/>
        </p:nvSpPr>
        <p:spPr>
          <a:xfrm>
            <a:off x="3200400" y="1143000"/>
            <a:ext cx="5303520" cy="914400"/>
          </a:xfrm>
          <a:prstGeom prst="rect">
            <a:avLst/>
          </a:prstGeom>
          <a:noFill/>
          <a:ln/>
        </p:spPr>
        <p:txBody>
          <a:bodyPr wrap="square" rtlCol="0" anchor="ctr"/>
          <a:lstStyle/>
          <a:p>
            <a:r>
              <a:rPr lang="en-US" sz="1400" dirty="0">
                <a:solidFill>
                  <a:schemeClr val="bg1">
                    <a:lumMod val="65000"/>
                  </a:schemeClr>
                </a:solidFill>
              </a:rPr>
              <a:t>This presentation covers the quality testing project for the Booking.com platform, starting from the testing challenges, through the methodology followed and the execution of manual and automated test cases, all the way to the final results across 17 functional modules.</a:t>
            </a:r>
          </a:p>
        </p:txBody>
      </p:sp>
      <p:sp>
        <p:nvSpPr>
          <p:cNvPr id="24" name="Shape 20"/>
          <p:cNvSpPr/>
          <p:nvPr/>
        </p:nvSpPr>
        <p:spPr>
          <a:xfrm>
            <a:off x="3200400" y="2377440"/>
            <a:ext cx="1280160" cy="1188720"/>
          </a:xfrm>
          <a:prstGeom prst="roundRect">
            <a:avLst>
              <a:gd name="adj" fmla="val 6154"/>
            </a:avLst>
          </a:prstGeom>
          <a:solidFill>
            <a:srgbClr val="141B2D"/>
          </a:solidFill>
          <a:ln w="12700">
            <a:solidFill>
              <a:srgbClr val="6C63FF"/>
            </a:solidFill>
            <a:prstDash val="solid"/>
          </a:ln>
        </p:spPr>
        <p:txBody>
          <a:bodyPr/>
          <a:lstStyle/>
          <a:p>
            <a:endParaRPr lang="en-US"/>
          </a:p>
        </p:txBody>
      </p:sp>
      <p:sp>
        <p:nvSpPr>
          <p:cNvPr id="25" name="Text 21"/>
          <p:cNvSpPr/>
          <p:nvPr/>
        </p:nvSpPr>
        <p:spPr>
          <a:xfrm>
            <a:off x="3200400" y="2468880"/>
            <a:ext cx="1280160" cy="594360"/>
          </a:xfrm>
          <a:prstGeom prst="rect">
            <a:avLst/>
          </a:prstGeom>
          <a:noFill/>
          <a:ln/>
        </p:spPr>
        <p:txBody>
          <a:bodyPr wrap="square" rtlCol="0" anchor="ctr"/>
          <a:lstStyle/>
          <a:p>
            <a:pPr marL="0" indent="0" algn="ctr">
              <a:buNone/>
            </a:pPr>
            <a:r>
              <a:rPr lang="en-US" sz="3000" b="1" dirty="0">
                <a:solidFill>
                  <a:srgbClr val="6C63FF"/>
                </a:solidFill>
                <a:latin typeface="Calibri" pitchFamily="34" charset="0"/>
                <a:ea typeface="Calibri" pitchFamily="34" charset="-122"/>
                <a:cs typeface="Calibri" pitchFamily="34" charset="-120"/>
              </a:rPr>
              <a:t>215</a:t>
            </a:r>
            <a:endParaRPr lang="en-US" sz="3000" dirty="0"/>
          </a:p>
        </p:txBody>
      </p:sp>
      <p:sp>
        <p:nvSpPr>
          <p:cNvPr id="26" name="Text 22"/>
          <p:cNvSpPr/>
          <p:nvPr/>
        </p:nvSpPr>
        <p:spPr>
          <a:xfrm>
            <a:off x="3200400" y="3063240"/>
            <a:ext cx="1280160" cy="411480"/>
          </a:xfrm>
          <a:prstGeom prst="rect">
            <a:avLst/>
          </a:prstGeom>
          <a:noFill/>
          <a:ln/>
        </p:spPr>
        <p:txBody>
          <a:bodyPr wrap="square" rtlCol="0" anchor="ctr"/>
          <a:lstStyle/>
          <a:p>
            <a:pPr marL="0" indent="0" algn="ctr">
              <a:buNone/>
            </a:pPr>
            <a:r>
              <a:rPr lang="en-US" sz="1000" dirty="0">
                <a:solidFill>
                  <a:srgbClr val="8892A4"/>
                </a:solidFill>
                <a:latin typeface="Calibri" pitchFamily="34" charset="0"/>
                <a:ea typeface="Calibri" pitchFamily="34" charset="-122"/>
                <a:cs typeface="Calibri" pitchFamily="34" charset="-120"/>
              </a:rPr>
              <a:t>Test Cases</a:t>
            </a:r>
            <a:endParaRPr lang="en-US" sz="1000" dirty="0"/>
          </a:p>
        </p:txBody>
      </p:sp>
      <p:sp>
        <p:nvSpPr>
          <p:cNvPr id="27" name="Shape 23"/>
          <p:cNvSpPr/>
          <p:nvPr/>
        </p:nvSpPr>
        <p:spPr>
          <a:xfrm>
            <a:off x="4663440" y="2377440"/>
            <a:ext cx="1280160" cy="1188720"/>
          </a:xfrm>
          <a:prstGeom prst="roundRect">
            <a:avLst>
              <a:gd name="adj" fmla="val 6154"/>
            </a:avLst>
          </a:prstGeom>
          <a:solidFill>
            <a:srgbClr val="141B2D"/>
          </a:solidFill>
          <a:ln w="12700">
            <a:solidFill>
              <a:srgbClr val="00E676"/>
            </a:solidFill>
            <a:prstDash val="solid"/>
          </a:ln>
        </p:spPr>
        <p:txBody>
          <a:bodyPr/>
          <a:lstStyle/>
          <a:p>
            <a:endParaRPr lang="en-US"/>
          </a:p>
        </p:txBody>
      </p:sp>
      <p:sp>
        <p:nvSpPr>
          <p:cNvPr id="28" name="Text 24"/>
          <p:cNvSpPr/>
          <p:nvPr/>
        </p:nvSpPr>
        <p:spPr>
          <a:xfrm>
            <a:off x="4663440" y="2468880"/>
            <a:ext cx="1280160" cy="594360"/>
          </a:xfrm>
          <a:prstGeom prst="rect">
            <a:avLst/>
          </a:prstGeom>
          <a:noFill/>
          <a:ln/>
        </p:spPr>
        <p:txBody>
          <a:bodyPr wrap="square" rtlCol="0" anchor="ctr"/>
          <a:lstStyle/>
          <a:p>
            <a:pPr marL="0" indent="0" algn="ctr">
              <a:buNone/>
            </a:pPr>
            <a:r>
              <a:rPr lang="en-US" sz="3000" b="1" dirty="0">
                <a:solidFill>
                  <a:srgbClr val="00E676"/>
                </a:solidFill>
                <a:latin typeface="Calibri" pitchFamily="34" charset="0"/>
                <a:ea typeface="Calibri" pitchFamily="34" charset="-122"/>
                <a:cs typeface="Calibri" pitchFamily="34" charset="-120"/>
              </a:rPr>
              <a:t>178</a:t>
            </a:r>
            <a:endParaRPr lang="en-US" sz="3000" dirty="0"/>
          </a:p>
        </p:txBody>
      </p:sp>
      <p:sp>
        <p:nvSpPr>
          <p:cNvPr id="29" name="Text 25"/>
          <p:cNvSpPr/>
          <p:nvPr/>
        </p:nvSpPr>
        <p:spPr>
          <a:xfrm>
            <a:off x="4663440" y="3063240"/>
            <a:ext cx="1280160" cy="411480"/>
          </a:xfrm>
          <a:prstGeom prst="rect">
            <a:avLst/>
          </a:prstGeom>
          <a:noFill/>
          <a:ln/>
        </p:spPr>
        <p:txBody>
          <a:bodyPr wrap="square" rtlCol="0" anchor="ctr"/>
          <a:lstStyle/>
          <a:p>
            <a:pPr marL="0" indent="0" algn="ctr">
              <a:buNone/>
            </a:pPr>
            <a:r>
              <a:rPr lang="en-US" sz="1000" dirty="0">
                <a:solidFill>
                  <a:srgbClr val="8892A4"/>
                </a:solidFill>
                <a:latin typeface="Calibri" pitchFamily="34" charset="0"/>
                <a:ea typeface="Calibri" pitchFamily="34" charset="-122"/>
                <a:cs typeface="Calibri" pitchFamily="34" charset="-120"/>
              </a:rPr>
              <a:t>Passed</a:t>
            </a:r>
            <a:endParaRPr lang="en-US" sz="1000" dirty="0"/>
          </a:p>
        </p:txBody>
      </p:sp>
      <p:sp>
        <p:nvSpPr>
          <p:cNvPr id="30" name="Shape 26"/>
          <p:cNvSpPr/>
          <p:nvPr/>
        </p:nvSpPr>
        <p:spPr>
          <a:xfrm>
            <a:off x="6126480" y="2377440"/>
            <a:ext cx="1280160" cy="1188720"/>
          </a:xfrm>
          <a:prstGeom prst="roundRect">
            <a:avLst>
              <a:gd name="adj" fmla="val 6154"/>
            </a:avLst>
          </a:prstGeom>
          <a:solidFill>
            <a:srgbClr val="141B2D"/>
          </a:solidFill>
          <a:ln w="12700">
            <a:solidFill>
              <a:srgbClr val="FF5252"/>
            </a:solidFill>
            <a:prstDash val="solid"/>
          </a:ln>
        </p:spPr>
        <p:txBody>
          <a:bodyPr/>
          <a:lstStyle/>
          <a:p>
            <a:endParaRPr lang="en-US"/>
          </a:p>
        </p:txBody>
      </p:sp>
      <p:sp>
        <p:nvSpPr>
          <p:cNvPr id="31" name="Text 27"/>
          <p:cNvSpPr/>
          <p:nvPr/>
        </p:nvSpPr>
        <p:spPr>
          <a:xfrm>
            <a:off x="6126480" y="2468880"/>
            <a:ext cx="1280160" cy="594360"/>
          </a:xfrm>
          <a:prstGeom prst="rect">
            <a:avLst/>
          </a:prstGeom>
          <a:noFill/>
          <a:ln/>
        </p:spPr>
        <p:txBody>
          <a:bodyPr wrap="square" rtlCol="0" anchor="ctr"/>
          <a:lstStyle/>
          <a:p>
            <a:pPr marL="0" indent="0" algn="ctr">
              <a:buNone/>
            </a:pPr>
            <a:r>
              <a:rPr lang="en-US" sz="3000" b="1" dirty="0">
                <a:solidFill>
                  <a:srgbClr val="FF5252"/>
                </a:solidFill>
                <a:latin typeface="Calibri" pitchFamily="34" charset="0"/>
                <a:ea typeface="Calibri" pitchFamily="34" charset="-122"/>
                <a:cs typeface="Calibri" pitchFamily="34" charset="-120"/>
              </a:rPr>
              <a:t>7</a:t>
            </a:r>
            <a:endParaRPr lang="en-US" sz="3000" dirty="0"/>
          </a:p>
        </p:txBody>
      </p:sp>
      <p:sp>
        <p:nvSpPr>
          <p:cNvPr id="32" name="Text 28"/>
          <p:cNvSpPr/>
          <p:nvPr/>
        </p:nvSpPr>
        <p:spPr>
          <a:xfrm>
            <a:off x="6126480" y="3063240"/>
            <a:ext cx="1280160" cy="411480"/>
          </a:xfrm>
          <a:prstGeom prst="rect">
            <a:avLst/>
          </a:prstGeom>
          <a:noFill/>
          <a:ln/>
        </p:spPr>
        <p:txBody>
          <a:bodyPr wrap="square" rtlCol="0" anchor="ctr"/>
          <a:lstStyle/>
          <a:p>
            <a:pPr marL="0" indent="0" algn="ctr">
              <a:buNone/>
            </a:pPr>
            <a:r>
              <a:rPr lang="en-US" sz="1000" dirty="0">
                <a:solidFill>
                  <a:srgbClr val="8892A4"/>
                </a:solidFill>
                <a:latin typeface="Calibri" pitchFamily="34" charset="0"/>
                <a:ea typeface="Calibri" pitchFamily="34" charset="-122"/>
                <a:cs typeface="Calibri" pitchFamily="34" charset="-120"/>
              </a:rPr>
              <a:t>Failed</a:t>
            </a:r>
            <a:endParaRPr lang="en-US" sz="1000" dirty="0"/>
          </a:p>
        </p:txBody>
      </p:sp>
      <p:sp>
        <p:nvSpPr>
          <p:cNvPr id="33" name="Shape 29"/>
          <p:cNvSpPr/>
          <p:nvPr/>
        </p:nvSpPr>
        <p:spPr>
          <a:xfrm>
            <a:off x="7589520" y="2377440"/>
            <a:ext cx="1280160" cy="1188720"/>
          </a:xfrm>
          <a:prstGeom prst="roundRect">
            <a:avLst>
              <a:gd name="adj" fmla="val 6154"/>
            </a:avLst>
          </a:prstGeom>
          <a:solidFill>
            <a:srgbClr val="141B2D"/>
          </a:solidFill>
          <a:ln w="12700">
            <a:solidFill>
              <a:srgbClr val="FFB300"/>
            </a:solidFill>
            <a:prstDash val="solid"/>
          </a:ln>
        </p:spPr>
        <p:txBody>
          <a:bodyPr/>
          <a:lstStyle/>
          <a:p>
            <a:endParaRPr lang="en-US"/>
          </a:p>
        </p:txBody>
      </p:sp>
      <p:sp>
        <p:nvSpPr>
          <p:cNvPr id="34" name="Text 30"/>
          <p:cNvSpPr/>
          <p:nvPr/>
        </p:nvSpPr>
        <p:spPr>
          <a:xfrm>
            <a:off x="7589520" y="2468880"/>
            <a:ext cx="1280160" cy="594360"/>
          </a:xfrm>
          <a:prstGeom prst="rect">
            <a:avLst/>
          </a:prstGeom>
          <a:noFill/>
          <a:ln/>
        </p:spPr>
        <p:txBody>
          <a:bodyPr wrap="square" rtlCol="0" anchor="ctr"/>
          <a:lstStyle/>
          <a:p>
            <a:pPr marL="0" indent="0" algn="ctr">
              <a:buNone/>
            </a:pPr>
            <a:r>
              <a:rPr lang="en-US" sz="3000" b="1" dirty="0">
                <a:solidFill>
                  <a:srgbClr val="FFB300"/>
                </a:solidFill>
                <a:latin typeface="Calibri" pitchFamily="34" charset="0"/>
                <a:ea typeface="Calibri" pitchFamily="34" charset="-122"/>
                <a:cs typeface="Calibri" pitchFamily="34" charset="-120"/>
              </a:rPr>
              <a:t>30</a:t>
            </a:r>
            <a:endParaRPr lang="en-US" sz="3000" dirty="0"/>
          </a:p>
        </p:txBody>
      </p:sp>
      <p:sp>
        <p:nvSpPr>
          <p:cNvPr id="35" name="Text 31"/>
          <p:cNvSpPr/>
          <p:nvPr/>
        </p:nvSpPr>
        <p:spPr>
          <a:xfrm>
            <a:off x="7589520" y="3063240"/>
            <a:ext cx="1280160" cy="411480"/>
          </a:xfrm>
          <a:prstGeom prst="rect">
            <a:avLst/>
          </a:prstGeom>
          <a:noFill/>
          <a:ln/>
        </p:spPr>
        <p:txBody>
          <a:bodyPr wrap="square" rtlCol="0" anchor="ctr"/>
          <a:lstStyle/>
          <a:p>
            <a:pPr marL="0" indent="0" algn="ctr">
              <a:buNone/>
            </a:pPr>
            <a:r>
              <a:rPr lang="en-US" sz="1000" dirty="0">
                <a:solidFill>
                  <a:srgbClr val="8892A4"/>
                </a:solidFill>
                <a:latin typeface="Calibri" pitchFamily="34" charset="0"/>
                <a:ea typeface="Calibri" pitchFamily="34" charset="-122"/>
                <a:cs typeface="Calibri" pitchFamily="34" charset="-120"/>
              </a:rPr>
              <a:t>Blocked</a:t>
            </a:r>
          </a:p>
          <a:p>
            <a:pPr marL="0" indent="0" algn="ctr">
              <a:buNone/>
            </a:pPr>
            <a:endParaRPr lang="en-US" sz="1000" dirty="0"/>
          </a:p>
        </p:txBody>
      </p:sp>
      <p:graphicFrame>
        <p:nvGraphicFramePr>
          <p:cNvPr id="36" name="Chart 0"/>
          <p:cNvGraphicFramePr/>
          <p:nvPr>
            <p:extLst>
              <p:ext uri="{D42A27DB-BD31-4B8C-83A1-F6EECF244321}">
                <p14:modId xmlns:p14="http://schemas.microsoft.com/office/powerpoint/2010/main" val="1650415166"/>
              </p:ext>
            </p:extLst>
          </p:nvPr>
        </p:nvGraphicFramePr>
        <p:xfrm>
          <a:off x="3200400" y="3657600"/>
          <a:ext cx="5669280" cy="1280160"/>
        </p:xfrm>
        <a:graphic>
          <a:graphicData uri="http://schemas.openxmlformats.org/drawingml/2006/chart">
            <c:chart xmlns:c="http://schemas.openxmlformats.org/drawingml/2006/chart" xmlns:r="http://schemas.openxmlformats.org/officeDocument/2006/relationships" r:id="rId5"/>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E1A"/>
        </a:solidFill>
        <a:effectLst/>
      </p:bgPr>
    </p:bg>
    <p:spTree>
      <p:nvGrpSpPr>
        <p:cNvPr id="1" name=""/>
        <p:cNvGrpSpPr/>
        <p:nvPr/>
      </p:nvGrpSpPr>
      <p:grpSpPr>
        <a:xfrm>
          <a:off x="0" y="0"/>
          <a:ext cx="0" cy="0"/>
          <a:chOff x="0" y="0"/>
          <a:chExt cx="0" cy="0"/>
        </a:xfrm>
      </p:grpSpPr>
      <p:sp>
        <p:nvSpPr>
          <p:cNvPr id="4" name="Shape 0"/>
          <p:cNvSpPr/>
          <p:nvPr/>
        </p:nvSpPr>
        <p:spPr>
          <a:xfrm>
            <a:off x="567558" y="0"/>
            <a:ext cx="8576441" cy="1005840"/>
          </a:xfrm>
          <a:prstGeom prst="rect">
            <a:avLst/>
          </a:prstGeom>
          <a:solidFill>
            <a:srgbClr val="141B2D"/>
          </a:solidFill>
          <a:ln w="12700">
            <a:solidFill>
              <a:srgbClr val="1E2D4A"/>
            </a:solidFill>
            <a:prstDash val="solid"/>
          </a:ln>
        </p:spPr>
        <p:txBody>
          <a:bodyPr/>
          <a:lstStyle/>
          <a:p>
            <a:endParaRPr lang="en-US"/>
          </a:p>
        </p:txBody>
      </p:sp>
      <p:pic>
        <p:nvPicPr>
          <p:cNvPr id="2" name="Image 0" descr="preencoded.png"/>
          <p:cNvPicPr>
            <a:picLocks noChangeAspect="1"/>
          </p:cNvPicPr>
          <p:nvPr/>
        </p:nvPicPr>
        <p:blipFill>
          <a:blip r:embed="rId3"/>
          <a:stretch>
            <a:fillRect/>
          </a:stretch>
        </p:blipFill>
        <p:spPr>
          <a:xfrm>
            <a:off x="109728" y="73152"/>
            <a:ext cx="658368" cy="658368"/>
          </a:xfrm>
          <a:prstGeom prst="ellipse">
            <a:avLst/>
          </a:prstGeom>
        </p:spPr>
      </p:pic>
      <p:pic>
        <p:nvPicPr>
          <p:cNvPr id="3" name="Image 1" descr="preencoded.png"/>
          <p:cNvPicPr>
            <a:picLocks noChangeAspect="1"/>
          </p:cNvPicPr>
          <p:nvPr/>
        </p:nvPicPr>
        <p:blipFill>
          <a:blip r:embed="rId4"/>
          <a:stretch>
            <a:fillRect/>
          </a:stretch>
        </p:blipFill>
        <p:spPr>
          <a:xfrm>
            <a:off x="8375904" y="73152"/>
            <a:ext cx="658368" cy="658368"/>
          </a:xfrm>
          <a:prstGeom prst="rect">
            <a:avLst/>
          </a:prstGeom>
        </p:spPr>
      </p:pic>
      <p:sp>
        <p:nvSpPr>
          <p:cNvPr id="5" name="Shape 1"/>
          <p:cNvSpPr/>
          <p:nvPr/>
        </p:nvSpPr>
        <p:spPr>
          <a:xfrm>
            <a:off x="0" y="0"/>
            <a:ext cx="9144000" cy="54864"/>
          </a:xfrm>
          <a:prstGeom prst="rect">
            <a:avLst/>
          </a:prstGeom>
          <a:solidFill>
            <a:srgbClr val="6C63FF"/>
          </a:solidFill>
          <a:ln w="12700">
            <a:solidFill>
              <a:srgbClr val="6C63FF"/>
            </a:solidFill>
            <a:prstDash val="solid"/>
          </a:ln>
        </p:spPr>
        <p:txBody>
          <a:bodyPr/>
          <a:lstStyle/>
          <a:p>
            <a:endParaRPr lang="en-US"/>
          </a:p>
        </p:txBody>
      </p:sp>
      <p:sp>
        <p:nvSpPr>
          <p:cNvPr id="6" name="Text 2"/>
          <p:cNvSpPr/>
          <p:nvPr/>
        </p:nvSpPr>
        <p:spPr>
          <a:xfrm>
            <a:off x="932688" y="137160"/>
            <a:ext cx="4919472" cy="548640"/>
          </a:xfrm>
          <a:prstGeom prst="rect">
            <a:avLst/>
          </a:prstGeom>
          <a:noFill/>
          <a:ln/>
        </p:spPr>
        <p:txBody>
          <a:bodyPr wrap="square" rtlCol="0" anchor="ctr"/>
          <a:lstStyle/>
          <a:p>
            <a:pPr marL="0" indent="0">
              <a:buNone/>
            </a:pPr>
            <a:r>
              <a:rPr lang="en-US" sz="2600" b="1" dirty="0">
                <a:solidFill>
                  <a:srgbClr val="F1F5FB"/>
                </a:solidFill>
                <a:latin typeface="Calibri" pitchFamily="34" charset="0"/>
                <a:ea typeface="Calibri" pitchFamily="34" charset="-122"/>
                <a:cs typeface="Calibri" pitchFamily="34" charset="-120"/>
              </a:rPr>
              <a:t>Project Overview</a:t>
            </a:r>
            <a:endParaRPr lang="en-US" sz="2600" dirty="0"/>
          </a:p>
        </p:txBody>
      </p:sp>
      <p:sp>
        <p:nvSpPr>
          <p:cNvPr id="7" name="Text 3"/>
          <p:cNvSpPr/>
          <p:nvPr/>
        </p:nvSpPr>
        <p:spPr>
          <a:xfrm>
            <a:off x="932688" y="621792"/>
            <a:ext cx="4919472" cy="320040"/>
          </a:xfrm>
          <a:prstGeom prst="rect">
            <a:avLst/>
          </a:prstGeom>
          <a:noFill/>
          <a:ln/>
        </p:spPr>
        <p:txBody>
          <a:bodyPr wrap="square" rtlCol="0" anchor="ctr"/>
          <a:lstStyle/>
          <a:p>
            <a:pPr marL="0" indent="0">
              <a:buNone/>
            </a:pPr>
            <a:r>
              <a:rPr lang="en-US" sz="1100" dirty="0">
                <a:solidFill>
                  <a:srgbClr val="8892A4"/>
                </a:solidFill>
                <a:latin typeface="Calibri" pitchFamily="34" charset="0"/>
                <a:ea typeface="Calibri" pitchFamily="34" charset="-122"/>
                <a:cs typeface="Calibri" pitchFamily="34" charset="-120"/>
              </a:rPr>
              <a:t>Team · Tech Stack · Supervisor</a:t>
            </a:r>
            <a:endParaRPr lang="en-US" sz="1100" dirty="0"/>
          </a:p>
        </p:txBody>
      </p:sp>
      <p:sp>
        <p:nvSpPr>
          <p:cNvPr id="8" name="Text 4"/>
          <p:cNvSpPr/>
          <p:nvPr/>
        </p:nvSpPr>
        <p:spPr>
          <a:xfrm>
            <a:off x="365760" y="1143000"/>
            <a:ext cx="3657600" cy="365760"/>
          </a:xfrm>
          <a:prstGeom prst="rect">
            <a:avLst/>
          </a:prstGeom>
          <a:noFill/>
          <a:ln/>
        </p:spPr>
        <p:txBody>
          <a:bodyPr wrap="square" rtlCol="0" anchor="ctr"/>
          <a:lstStyle/>
          <a:p>
            <a:pPr marL="0" indent="0">
              <a:buNone/>
            </a:pPr>
            <a:r>
              <a:rPr lang="en-US" sz="1400" b="1" dirty="0">
                <a:solidFill>
                  <a:srgbClr val="4FC3F7"/>
                </a:solidFill>
                <a:latin typeface="Calibri" pitchFamily="34" charset="0"/>
                <a:ea typeface="Calibri" pitchFamily="34" charset="-122"/>
                <a:cs typeface="Calibri" pitchFamily="34" charset="-120"/>
              </a:rPr>
              <a:t>The Team</a:t>
            </a:r>
            <a:endParaRPr lang="en-US" sz="1400" dirty="0"/>
          </a:p>
        </p:txBody>
      </p:sp>
      <p:sp>
        <p:nvSpPr>
          <p:cNvPr id="9" name="Shape 5"/>
          <p:cNvSpPr/>
          <p:nvPr/>
        </p:nvSpPr>
        <p:spPr>
          <a:xfrm>
            <a:off x="274320" y="1554480"/>
            <a:ext cx="2368456" cy="772668"/>
          </a:xfrm>
          <a:prstGeom prst="roundRect">
            <a:avLst>
              <a:gd name="adj" fmla="val 8000"/>
            </a:avLst>
          </a:prstGeom>
          <a:solidFill>
            <a:srgbClr val="1A2340"/>
          </a:solidFill>
          <a:ln w="12700">
            <a:solidFill>
              <a:srgbClr val="6C63FF"/>
            </a:solidFill>
            <a:prstDash val="solid"/>
          </a:ln>
        </p:spPr>
        <p:txBody>
          <a:bodyPr/>
          <a:lstStyle/>
          <a:p>
            <a:endParaRPr lang="en-US"/>
          </a:p>
        </p:txBody>
      </p:sp>
      <p:sp>
        <p:nvSpPr>
          <p:cNvPr id="10" name="Shape 6"/>
          <p:cNvSpPr/>
          <p:nvPr/>
        </p:nvSpPr>
        <p:spPr>
          <a:xfrm>
            <a:off x="384048" y="1783080"/>
            <a:ext cx="394743" cy="386334"/>
          </a:xfrm>
          <a:prstGeom prst="ellipse">
            <a:avLst/>
          </a:prstGeom>
          <a:solidFill>
            <a:srgbClr val="6C63FF">
              <a:alpha val="80000"/>
            </a:srgbClr>
          </a:solidFill>
          <a:ln w="12700">
            <a:solidFill>
              <a:srgbClr val="6C63FF"/>
            </a:solidFill>
            <a:prstDash val="solid"/>
          </a:ln>
        </p:spPr>
        <p:txBody>
          <a:bodyPr/>
          <a:lstStyle/>
          <a:p>
            <a:endParaRPr lang="en-US"/>
          </a:p>
        </p:txBody>
      </p:sp>
      <p:sp>
        <p:nvSpPr>
          <p:cNvPr id="11" name="Text 7"/>
          <p:cNvSpPr/>
          <p:nvPr/>
        </p:nvSpPr>
        <p:spPr>
          <a:xfrm>
            <a:off x="384048" y="1783080"/>
            <a:ext cx="394743" cy="386334"/>
          </a:xfrm>
          <a:prstGeom prst="rect">
            <a:avLst/>
          </a:prstGeom>
          <a:noFill/>
          <a:ln/>
        </p:spPr>
        <p:txBody>
          <a:bodyPr wrap="square" lIns="91440" tIns="45720" rIns="91440" bIns="45720" rtlCol="0" anchor="ctr"/>
          <a:lstStyle/>
          <a:p>
            <a:pPr marL="0" indent="0" algn="ctr">
              <a:buNone/>
            </a:pPr>
            <a:r>
              <a:rPr lang="ar-EG" sz="1400" b="1">
                <a:solidFill>
                  <a:srgbClr val="F1F5FB"/>
                </a:solidFill>
                <a:latin typeface="Calibri"/>
                <a:ea typeface="Calibri"/>
                <a:cs typeface="Calibri"/>
              </a:rPr>
              <a:t>M</a:t>
            </a:r>
            <a:endParaRPr lang="en-US" sz="1400" dirty="0"/>
          </a:p>
        </p:txBody>
      </p:sp>
      <p:sp>
        <p:nvSpPr>
          <p:cNvPr id="12" name="Text 8"/>
          <p:cNvSpPr/>
          <p:nvPr/>
        </p:nvSpPr>
        <p:spPr>
          <a:xfrm>
            <a:off x="932688" y="1664208"/>
            <a:ext cx="1736868" cy="293614"/>
          </a:xfrm>
          <a:prstGeom prst="rect">
            <a:avLst/>
          </a:prstGeom>
          <a:noFill/>
          <a:ln/>
        </p:spPr>
        <p:txBody>
          <a:bodyPr wrap="square" lIns="91440" tIns="45720" rIns="91440" bIns="45720" rtlCol="0" anchor="ctr"/>
          <a:lstStyle/>
          <a:p>
            <a:r>
              <a:rPr lang="ar-EG" sz="1300" b="1">
                <a:solidFill>
                  <a:srgbClr val="F1F5FB"/>
                </a:solidFill>
                <a:latin typeface="Calibri"/>
                <a:ea typeface="Calibri"/>
                <a:cs typeface="Calibri"/>
              </a:rPr>
              <a:t>Malak Anwer</a:t>
            </a:r>
            <a:endParaRPr lang="ar-EG" sz="1300" b="1" dirty="0">
              <a:solidFill>
                <a:srgbClr val="F1F5FB"/>
              </a:solidFill>
              <a:latin typeface="Calibri" pitchFamily="34" charset="0"/>
              <a:ea typeface="Calibri" pitchFamily="34" charset="-122"/>
              <a:cs typeface="Calibri" pitchFamily="34" charset="-120"/>
            </a:endParaRPr>
          </a:p>
        </p:txBody>
      </p:sp>
      <p:sp>
        <p:nvSpPr>
          <p:cNvPr id="13" name="Text 9"/>
          <p:cNvSpPr/>
          <p:nvPr/>
        </p:nvSpPr>
        <p:spPr>
          <a:xfrm>
            <a:off x="932688" y="2011680"/>
            <a:ext cx="1736868" cy="247254"/>
          </a:xfrm>
          <a:prstGeom prst="rect">
            <a:avLst/>
          </a:prstGeom>
          <a:noFill/>
          <a:ln/>
        </p:spPr>
        <p:txBody>
          <a:bodyPr wrap="square" rtlCol="0" anchor="ctr"/>
          <a:lstStyle/>
          <a:p>
            <a:pPr marL="0" indent="0">
              <a:buNone/>
            </a:pPr>
            <a:r>
              <a:rPr lang="en-US" sz="1000" dirty="0">
                <a:solidFill>
                  <a:srgbClr val="6C63FF"/>
                </a:solidFill>
                <a:latin typeface="Calibri" pitchFamily="34" charset="0"/>
                <a:ea typeface="Calibri" pitchFamily="34" charset="-122"/>
                <a:cs typeface="Calibri" pitchFamily="34" charset="-120"/>
              </a:rPr>
              <a:t>Team Leader</a:t>
            </a:r>
            <a:endParaRPr lang="en-US" sz="1000" dirty="0"/>
          </a:p>
        </p:txBody>
      </p:sp>
      <p:sp>
        <p:nvSpPr>
          <p:cNvPr id="14" name="Shape 10"/>
          <p:cNvSpPr/>
          <p:nvPr/>
        </p:nvSpPr>
        <p:spPr>
          <a:xfrm>
            <a:off x="3200400" y="1554480"/>
            <a:ext cx="2368456" cy="772668"/>
          </a:xfrm>
          <a:prstGeom prst="roundRect">
            <a:avLst>
              <a:gd name="adj" fmla="val 8000"/>
            </a:avLst>
          </a:prstGeom>
          <a:solidFill>
            <a:srgbClr val="1A2340"/>
          </a:solidFill>
          <a:ln w="12700">
            <a:solidFill>
              <a:srgbClr val="4FC3F7"/>
            </a:solidFill>
            <a:prstDash val="solid"/>
          </a:ln>
        </p:spPr>
        <p:txBody>
          <a:bodyPr/>
          <a:lstStyle/>
          <a:p>
            <a:endParaRPr lang="en-US"/>
          </a:p>
        </p:txBody>
      </p:sp>
      <p:sp>
        <p:nvSpPr>
          <p:cNvPr id="15" name="Shape 11"/>
          <p:cNvSpPr/>
          <p:nvPr/>
        </p:nvSpPr>
        <p:spPr>
          <a:xfrm>
            <a:off x="3310128" y="1783080"/>
            <a:ext cx="394743" cy="386334"/>
          </a:xfrm>
          <a:prstGeom prst="ellipse">
            <a:avLst/>
          </a:prstGeom>
          <a:solidFill>
            <a:srgbClr val="4FC3F7">
              <a:alpha val="80000"/>
            </a:srgbClr>
          </a:solidFill>
          <a:ln w="12700">
            <a:solidFill>
              <a:srgbClr val="4FC3F7"/>
            </a:solidFill>
            <a:prstDash val="solid"/>
          </a:ln>
        </p:spPr>
        <p:txBody>
          <a:bodyPr/>
          <a:lstStyle/>
          <a:p>
            <a:endParaRPr lang="en-US"/>
          </a:p>
        </p:txBody>
      </p:sp>
      <p:sp>
        <p:nvSpPr>
          <p:cNvPr id="16" name="Text 12"/>
          <p:cNvSpPr/>
          <p:nvPr/>
        </p:nvSpPr>
        <p:spPr>
          <a:xfrm>
            <a:off x="3310128" y="1783080"/>
            <a:ext cx="394743" cy="386334"/>
          </a:xfrm>
          <a:prstGeom prst="rect">
            <a:avLst/>
          </a:prstGeom>
          <a:noFill/>
          <a:ln/>
        </p:spPr>
        <p:txBody>
          <a:bodyPr wrap="square" lIns="91440" tIns="45720" rIns="91440" bIns="45720" rtlCol="0" anchor="ctr"/>
          <a:lstStyle/>
          <a:p>
            <a:pPr marL="0" indent="0" algn="ctr">
              <a:buNone/>
            </a:pPr>
            <a:r>
              <a:rPr lang="ar-EG" sz="1400" b="1">
                <a:solidFill>
                  <a:srgbClr val="F1F5FB"/>
                </a:solidFill>
                <a:latin typeface="Calibri"/>
                <a:ea typeface="Calibri"/>
                <a:cs typeface="Calibri"/>
              </a:rPr>
              <a:t>B</a:t>
            </a:r>
            <a:endParaRPr lang="en-US"/>
          </a:p>
        </p:txBody>
      </p:sp>
      <p:sp>
        <p:nvSpPr>
          <p:cNvPr id="17" name="Text 13"/>
          <p:cNvSpPr/>
          <p:nvPr/>
        </p:nvSpPr>
        <p:spPr>
          <a:xfrm>
            <a:off x="3858768" y="1664208"/>
            <a:ext cx="1736868" cy="293614"/>
          </a:xfrm>
          <a:prstGeom prst="rect">
            <a:avLst/>
          </a:prstGeom>
          <a:noFill/>
          <a:ln/>
        </p:spPr>
        <p:txBody>
          <a:bodyPr wrap="square" lIns="91440" tIns="45720" rIns="91440" bIns="45720" rtlCol="0" anchor="ctr"/>
          <a:lstStyle/>
          <a:p>
            <a:r>
              <a:rPr lang="ar-EG" sz="1300" b="1">
                <a:solidFill>
                  <a:srgbClr val="F1F5FB"/>
                </a:solidFill>
                <a:ea typeface="Calibri"/>
                <a:cs typeface="Calibri"/>
              </a:rPr>
              <a:t>Basma Mostafa</a:t>
            </a:r>
            <a:endParaRPr lang="ar-EG" sz="1300" b="1" dirty="0">
              <a:solidFill>
                <a:srgbClr val="F1F5FB"/>
              </a:solidFill>
              <a:ea typeface="Calibri"/>
              <a:cs typeface="Calibri"/>
            </a:endParaRPr>
          </a:p>
        </p:txBody>
      </p:sp>
      <p:sp>
        <p:nvSpPr>
          <p:cNvPr id="18" name="Text 14"/>
          <p:cNvSpPr/>
          <p:nvPr/>
        </p:nvSpPr>
        <p:spPr>
          <a:xfrm>
            <a:off x="3858768" y="2011680"/>
            <a:ext cx="1736868" cy="247254"/>
          </a:xfrm>
          <a:prstGeom prst="rect">
            <a:avLst/>
          </a:prstGeom>
          <a:noFill/>
          <a:ln/>
        </p:spPr>
        <p:txBody>
          <a:bodyPr wrap="square" rtlCol="0" anchor="ctr"/>
          <a:lstStyle/>
          <a:p>
            <a:pPr marL="0" indent="0">
              <a:buNone/>
            </a:pPr>
            <a:r>
              <a:rPr lang="en-US" sz="1000" dirty="0">
                <a:solidFill>
                  <a:srgbClr val="4FC3F7"/>
                </a:solidFill>
                <a:latin typeface="Calibri" pitchFamily="34" charset="0"/>
                <a:ea typeface="Calibri" pitchFamily="34" charset="-122"/>
                <a:cs typeface="Calibri" pitchFamily="34" charset="-120"/>
              </a:rPr>
              <a:t>QA Engineer</a:t>
            </a:r>
            <a:endParaRPr lang="en-US" sz="1000" dirty="0"/>
          </a:p>
        </p:txBody>
      </p:sp>
      <p:sp>
        <p:nvSpPr>
          <p:cNvPr id="19" name="Shape 15"/>
          <p:cNvSpPr/>
          <p:nvPr/>
        </p:nvSpPr>
        <p:spPr>
          <a:xfrm>
            <a:off x="274320" y="2482596"/>
            <a:ext cx="2368456" cy="772668"/>
          </a:xfrm>
          <a:prstGeom prst="roundRect">
            <a:avLst>
              <a:gd name="adj" fmla="val 8000"/>
            </a:avLst>
          </a:prstGeom>
          <a:solidFill>
            <a:srgbClr val="1A2340"/>
          </a:solidFill>
          <a:ln w="12700">
            <a:solidFill>
              <a:srgbClr val="00E676"/>
            </a:solidFill>
            <a:prstDash val="solid"/>
          </a:ln>
        </p:spPr>
        <p:txBody>
          <a:bodyPr/>
          <a:lstStyle/>
          <a:p>
            <a:endParaRPr lang="en-US" dirty="0"/>
          </a:p>
        </p:txBody>
      </p:sp>
      <p:sp>
        <p:nvSpPr>
          <p:cNvPr id="20" name="Shape 16"/>
          <p:cNvSpPr/>
          <p:nvPr/>
        </p:nvSpPr>
        <p:spPr>
          <a:xfrm>
            <a:off x="384048" y="2711196"/>
            <a:ext cx="394743" cy="386334"/>
          </a:xfrm>
          <a:prstGeom prst="ellipse">
            <a:avLst/>
          </a:prstGeom>
          <a:solidFill>
            <a:srgbClr val="00E676">
              <a:alpha val="80000"/>
            </a:srgbClr>
          </a:solidFill>
          <a:ln w="12700">
            <a:solidFill>
              <a:srgbClr val="00E676"/>
            </a:solidFill>
            <a:prstDash val="solid"/>
          </a:ln>
        </p:spPr>
        <p:txBody>
          <a:bodyPr/>
          <a:lstStyle/>
          <a:p>
            <a:endParaRPr lang="en-US"/>
          </a:p>
        </p:txBody>
      </p:sp>
      <p:sp>
        <p:nvSpPr>
          <p:cNvPr id="21" name="Text 17"/>
          <p:cNvSpPr/>
          <p:nvPr/>
        </p:nvSpPr>
        <p:spPr>
          <a:xfrm>
            <a:off x="384048" y="2711196"/>
            <a:ext cx="394743" cy="386334"/>
          </a:xfrm>
          <a:prstGeom prst="rect">
            <a:avLst/>
          </a:prstGeom>
          <a:noFill/>
          <a:ln/>
        </p:spPr>
        <p:txBody>
          <a:bodyPr wrap="square" lIns="91440" tIns="45720" rIns="91440" bIns="45720" rtlCol="0" anchor="ctr"/>
          <a:lstStyle/>
          <a:p>
            <a:pPr marL="0" indent="0" algn="ctr">
              <a:buNone/>
            </a:pPr>
            <a:r>
              <a:rPr lang="ar-EG" sz="1400" b="1">
                <a:solidFill>
                  <a:srgbClr val="F1F5FB"/>
                </a:solidFill>
                <a:latin typeface="Calibri"/>
                <a:ea typeface="Calibri"/>
                <a:cs typeface="Calibri"/>
              </a:rPr>
              <a:t>Z</a:t>
            </a:r>
            <a:endParaRPr lang="en-US"/>
          </a:p>
        </p:txBody>
      </p:sp>
      <p:sp>
        <p:nvSpPr>
          <p:cNvPr id="22" name="Text 18"/>
          <p:cNvSpPr/>
          <p:nvPr/>
        </p:nvSpPr>
        <p:spPr>
          <a:xfrm>
            <a:off x="932688" y="2592324"/>
            <a:ext cx="1736868" cy="293614"/>
          </a:xfrm>
          <a:prstGeom prst="rect">
            <a:avLst/>
          </a:prstGeom>
          <a:noFill/>
          <a:ln/>
        </p:spPr>
        <p:txBody>
          <a:bodyPr wrap="square" lIns="91440" tIns="45720" rIns="91440" bIns="45720" rtlCol="0" anchor="ctr"/>
          <a:lstStyle/>
          <a:p>
            <a:r>
              <a:rPr lang="ar-EG" sz="1300" b="1">
                <a:solidFill>
                  <a:srgbClr val="F1F5FB"/>
                </a:solidFill>
                <a:latin typeface="Calibri"/>
                <a:ea typeface="Calibri"/>
                <a:cs typeface="Calibri"/>
              </a:rPr>
              <a:t>Ziyad abdeldayem</a:t>
            </a:r>
            <a:endParaRPr lang="en-US"/>
          </a:p>
        </p:txBody>
      </p:sp>
      <p:sp>
        <p:nvSpPr>
          <p:cNvPr id="23" name="Text 19"/>
          <p:cNvSpPr/>
          <p:nvPr/>
        </p:nvSpPr>
        <p:spPr>
          <a:xfrm>
            <a:off x="932688" y="2939796"/>
            <a:ext cx="1736868" cy="247254"/>
          </a:xfrm>
          <a:prstGeom prst="rect">
            <a:avLst/>
          </a:prstGeom>
          <a:noFill/>
          <a:ln/>
        </p:spPr>
        <p:txBody>
          <a:bodyPr wrap="square" rtlCol="0" anchor="ctr"/>
          <a:lstStyle/>
          <a:p>
            <a:pPr marL="0" indent="0">
              <a:buNone/>
            </a:pPr>
            <a:r>
              <a:rPr lang="en-US" sz="1000" dirty="0">
                <a:solidFill>
                  <a:srgbClr val="00E676"/>
                </a:solidFill>
                <a:latin typeface="Calibri" pitchFamily="34" charset="0"/>
                <a:ea typeface="Calibri" pitchFamily="34" charset="-122"/>
                <a:cs typeface="Calibri" pitchFamily="34" charset="-120"/>
              </a:rPr>
              <a:t>QA Engineer</a:t>
            </a:r>
            <a:endParaRPr lang="en-US" sz="1000" dirty="0"/>
          </a:p>
        </p:txBody>
      </p:sp>
      <p:sp>
        <p:nvSpPr>
          <p:cNvPr id="24" name="Shape 20"/>
          <p:cNvSpPr/>
          <p:nvPr/>
        </p:nvSpPr>
        <p:spPr>
          <a:xfrm>
            <a:off x="3200400" y="2482596"/>
            <a:ext cx="2368456" cy="772668"/>
          </a:xfrm>
          <a:prstGeom prst="roundRect">
            <a:avLst>
              <a:gd name="adj" fmla="val 8000"/>
            </a:avLst>
          </a:prstGeom>
          <a:solidFill>
            <a:srgbClr val="1A2340"/>
          </a:solidFill>
          <a:ln w="12700">
            <a:solidFill>
              <a:srgbClr val="FFB300"/>
            </a:solidFill>
            <a:prstDash val="solid"/>
          </a:ln>
        </p:spPr>
        <p:txBody>
          <a:bodyPr/>
          <a:lstStyle/>
          <a:p>
            <a:endParaRPr lang="en-US"/>
          </a:p>
        </p:txBody>
      </p:sp>
      <p:sp>
        <p:nvSpPr>
          <p:cNvPr id="25" name="Shape 21"/>
          <p:cNvSpPr/>
          <p:nvPr/>
        </p:nvSpPr>
        <p:spPr>
          <a:xfrm>
            <a:off x="3310128" y="2711196"/>
            <a:ext cx="394743" cy="386334"/>
          </a:xfrm>
          <a:prstGeom prst="ellipse">
            <a:avLst/>
          </a:prstGeom>
          <a:solidFill>
            <a:srgbClr val="FFB300">
              <a:alpha val="80000"/>
            </a:srgbClr>
          </a:solidFill>
          <a:ln w="12700">
            <a:solidFill>
              <a:srgbClr val="FFB300"/>
            </a:solidFill>
            <a:prstDash val="solid"/>
          </a:ln>
        </p:spPr>
        <p:txBody>
          <a:bodyPr/>
          <a:lstStyle/>
          <a:p>
            <a:endParaRPr lang="en-US"/>
          </a:p>
        </p:txBody>
      </p:sp>
      <p:sp>
        <p:nvSpPr>
          <p:cNvPr id="26" name="Text 22"/>
          <p:cNvSpPr/>
          <p:nvPr/>
        </p:nvSpPr>
        <p:spPr>
          <a:xfrm>
            <a:off x="3310128" y="2711196"/>
            <a:ext cx="394743" cy="386334"/>
          </a:xfrm>
          <a:prstGeom prst="rect">
            <a:avLst/>
          </a:prstGeom>
          <a:noFill/>
          <a:ln/>
        </p:spPr>
        <p:txBody>
          <a:bodyPr wrap="square" lIns="91440" tIns="45720" rIns="91440" bIns="45720" rtlCol="0" anchor="ctr"/>
          <a:lstStyle/>
          <a:p>
            <a:pPr marL="0" indent="0" algn="ctr">
              <a:buNone/>
            </a:pPr>
            <a:r>
              <a:rPr lang="ar-EG" sz="1400" b="1">
                <a:solidFill>
                  <a:srgbClr val="F1F5FB"/>
                </a:solidFill>
                <a:latin typeface="Calibri"/>
                <a:ea typeface="Calibri"/>
                <a:cs typeface="Calibri"/>
              </a:rPr>
              <a:t>N</a:t>
            </a:r>
            <a:endParaRPr lang="en-US"/>
          </a:p>
        </p:txBody>
      </p:sp>
      <p:sp>
        <p:nvSpPr>
          <p:cNvPr id="27" name="Text 23"/>
          <p:cNvSpPr/>
          <p:nvPr/>
        </p:nvSpPr>
        <p:spPr>
          <a:xfrm>
            <a:off x="3858768" y="2592324"/>
            <a:ext cx="1736868" cy="293614"/>
          </a:xfrm>
          <a:prstGeom prst="rect">
            <a:avLst/>
          </a:prstGeom>
          <a:noFill/>
          <a:ln/>
        </p:spPr>
        <p:txBody>
          <a:bodyPr wrap="square" lIns="91440" tIns="45720" rIns="91440" bIns="45720" rtlCol="0" anchor="ctr"/>
          <a:lstStyle/>
          <a:p>
            <a:r>
              <a:rPr lang="ar-EG" sz="1300" b="1">
                <a:solidFill>
                  <a:srgbClr val="F1F5FB"/>
                </a:solidFill>
                <a:latin typeface="Calibri"/>
                <a:ea typeface="Calibri"/>
                <a:cs typeface="Calibri"/>
              </a:rPr>
              <a:t>Nouran mohamed</a:t>
            </a:r>
            <a:endParaRPr lang="en-US"/>
          </a:p>
        </p:txBody>
      </p:sp>
      <p:sp>
        <p:nvSpPr>
          <p:cNvPr id="28" name="Text 24"/>
          <p:cNvSpPr/>
          <p:nvPr/>
        </p:nvSpPr>
        <p:spPr>
          <a:xfrm>
            <a:off x="3858768" y="2939796"/>
            <a:ext cx="1736868" cy="247254"/>
          </a:xfrm>
          <a:prstGeom prst="rect">
            <a:avLst/>
          </a:prstGeom>
          <a:noFill/>
          <a:ln/>
        </p:spPr>
        <p:txBody>
          <a:bodyPr wrap="square" rtlCol="0" anchor="ctr"/>
          <a:lstStyle/>
          <a:p>
            <a:pPr marL="0" indent="0">
              <a:buNone/>
            </a:pPr>
            <a:r>
              <a:rPr lang="en-US" sz="1000" dirty="0">
                <a:solidFill>
                  <a:srgbClr val="FFB300"/>
                </a:solidFill>
                <a:latin typeface="Calibri" pitchFamily="34" charset="0"/>
                <a:ea typeface="Calibri" pitchFamily="34" charset="-122"/>
                <a:cs typeface="Calibri" pitchFamily="34" charset="-120"/>
              </a:rPr>
              <a:t>QA Engineer</a:t>
            </a:r>
            <a:endParaRPr lang="en-US" sz="1000" dirty="0"/>
          </a:p>
        </p:txBody>
      </p:sp>
      <p:sp>
        <p:nvSpPr>
          <p:cNvPr id="29" name="Shape 25"/>
          <p:cNvSpPr/>
          <p:nvPr/>
        </p:nvSpPr>
        <p:spPr>
          <a:xfrm>
            <a:off x="270844" y="3386709"/>
            <a:ext cx="2368456" cy="772668"/>
          </a:xfrm>
          <a:prstGeom prst="roundRect">
            <a:avLst>
              <a:gd name="adj" fmla="val 8000"/>
            </a:avLst>
          </a:prstGeom>
          <a:solidFill>
            <a:srgbClr val="1A2340"/>
          </a:solidFill>
          <a:ln w="12700">
            <a:solidFill>
              <a:srgbClr val="FF5252"/>
            </a:solidFill>
            <a:prstDash val="solid"/>
          </a:ln>
        </p:spPr>
        <p:txBody>
          <a:bodyPr/>
          <a:lstStyle/>
          <a:p>
            <a:endParaRPr lang="en-US" dirty="0"/>
          </a:p>
        </p:txBody>
      </p:sp>
      <p:sp>
        <p:nvSpPr>
          <p:cNvPr id="30" name="Shape 26"/>
          <p:cNvSpPr/>
          <p:nvPr/>
        </p:nvSpPr>
        <p:spPr>
          <a:xfrm>
            <a:off x="380572" y="3615309"/>
            <a:ext cx="394743" cy="386334"/>
          </a:xfrm>
          <a:prstGeom prst="ellipse">
            <a:avLst/>
          </a:prstGeom>
          <a:solidFill>
            <a:srgbClr val="FF5252">
              <a:alpha val="80000"/>
            </a:srgbClr>
          </a:solidFill>
          <a:ln w="12700">
            <a:solidFill>
              <a:srgbClr val="FF5252"/>
            </a:solidFill>
            <a:prstDash val="solid"/>
          </a:ln>
        </p:spPr>
        <p:txBody>
          <a:bodyPr/>
          <a:lstStyle/>
          <a:p>
            <a:endParaRPr lang="en-US"/>
          </a:p>
        </p:txBody>
      </p:sp>
      <p:sp>
        <p:nvSpPr>
          <p:cNvPr id="31" name="Text 27"/>
          <p:cNvSpPr/>
          <p:nvPr/>
        </p:nvSpPr>
        <p:spPr>
          <a:xfrm>
            <a:off x="380572" y="3615309"/>
            <a:ext cx="394743" cy="386334"/>
          </a:xfrm>
          <a:prstGeom prst="rect">
            <a:avLst/>
          </a:prstGeom>
          <a:noFill/>
          <a:ln/>
        </p:spPr>
        <p:txBody>
          <a:bodyPr wrap="square" lIns="91440" tIns="45720" rIns="91440" bIns="45720" rtlCol="0" anchor="ctr"/>
          <a:lstStyle/>
          <a:p>
            <a:pPr marL="0" indent="0" algn="ctr">
              <a:buNone/>
            </a:pPr>
            <a:r>
              <a:rPr lang="ar-EG" sz="1400" b="1">
                <a:solidFill>
                  <a:srgbClr val="F1F5FB"/>
                </a:solidFill>
                <a:latin typeface="Calibri"/>
                <a:ea typeface="Calibri"/>
                <a:cs typeface="Calibri"/>
              </a:rPr>
              <a:t>K</a:t>
            </a:r>
            <a:endParaRPr lang="en-US"/>
          </a:p>
        </p:txBody>
      </p:sp>
      <p:sp>
        <p:nvSpPr>
          <p:cNvPr id="32" name="Text 28"/>
          <p:cNvSpPr/>
          <p:nvPr/>
        </p:nvSpPr>
        <p:spPr>
          <a:xfrm>
            <a:off x="929212" y="3496437"/>
            <a:ext cx="1736868" cy="293614"/>
          </a:xfrm>
          <a:prstGeom prst="rect">
            <a:avLst/>
          </a:prstGeom>
          <a:noFill/>
          <a:ln/>
        </p:spPr>
        <p:txBody>
          <a:bodyPr wrap="square" lIns="91440" tIns="45720" rIns="91440" bIns="45720" rtlCol="0" anchor="ctr"/>
          <a:lstStyle/>
          <a:p>
            <a:r>
              <a:rPr lang="ar-EG" sz="1300" b="1">
                <a:solidFill>
                  <a:srgbClr val="F1F5FB"/>
                </a:solidFill>
                <a:latin typeface="Calibri"/>
                <a:ea typeface="Calibri"/>
                <a:cs typeface="Calibri"/>
              </a:rPr>
              <a:t>Karim nasr</a:t>
            </a:r>
            <a:endParaRPr lang="en-US"/>
          </a:p>
        </p:txBody>
      </p:sp>
      <p:sp>
        <p:nvSpPr>
          <p:cNvPr id="33" name="Text 29"/>
          <p:cNvSpPr/>
          <p:nvPr/>
        </p:nvSpPr>
        <p:spPr>
          <a:xfrm>
            <a:off x="929212" y="3843909"/>
            <a:ext cx="1736868" cy="247254"/>
          </a:xfrm>
          <a:prstGeom prst="rect">
            <a:avLst/>
          </a:prstGeom>
          <a:noFill/>
          <a:ln/>
        </p:spPr>
        <p:txBody>
          <a:bodyPr wrap="square" rtlCol="0" anchor="ctr"/>
          <a:lstStyle/>
          <a:p>
            <a:pPr marL="0" indent="0">
              <a:buNone/>
            </a:pPr>
            <a:r>
              <a:rPr lang="en-US" sz="1000" dirty="0">
                <a:solidFill>
                  <a:srgbClr val="FF5252"/>
                </a:solidFill>
                <a:latin typeface="Calibri" pitchFamily="34" charset="0"/>
                <a:ea typeface="Calibri" pitchFamily="34" charset="-122"/>
                <a:cs typeface="Calibri" pitchFamily="34" charset="-120"/>
              </a:rPr>
              <a:t>QA Engineer</a:t>
            </a:r>
            <a:endParaRPr lang="en-US" sz="1000" dirty="0"/>
          </a:p>
        </p:txBody>
      </p:sp>
      <p:sp>
        <p:nvSpPr>
          <p:cNvPr id="34" name="Shape 30"/>
          <p:cNvSpPr/>
          <p:nvPr/>
        </p:nvSpPr>
        <p:spPr>
          <a:xfrm>
            <a:off x="6126480" y="1143000"/>
            <a:ext cx="2834640" cy="868680"/>
          </a:xfrm>
          <a:prstGeom prst="roundRect">
            <a:avLst>
              <a:gd name="adj" fmla="val 8421"/>
            </a:avLst>
          </a:prstGeom>
          <a:solidFill>
            <a:srgbClr val="141B2D"/>
          </a:solidFill>
          <a:ln w="12700">
            <a:solidFill>
              <a:srgbClr val="1E2D4A"/>
            </a:solidFill>
            <a:prstDash val="solid"/>
          </a:ln>
        </p:spPr>
        <p:txBody>
          <a:bodyPr/>
          <a:lstStyle/>
          <a:p>
            <a:br>
              <a:rPr lang="en-US" dirty="0"/>
            </a:br>
            <a:r>
              <a:rPr lang="en-US" dirty="0"/>
              <a:t>  </a:t>
            </a:r>
            <a:r>
              <a:rPr lang="en-US" sz="1200" dirty="0">
                <a:solidFill>
                  <a:srgbClr val="8892A4"/>
                </a:solidFill>
                <a:latin typeface="Calibri" pitchFamily="34" charset="0"/>
                <a:ea typeface="Calibri" pitchFamily="34" charset="-122"/>
                <a:cs typeface="Calibri" pitchFamily="34" charset="-120"/>
              </a:rPr>
              <a:t>Booking.com QA testing</a:t>
            </a:r>
          </a:p>
        </p:txBody>
      </p:sp>
      <p:sp>
        <p:nvSpPr>
          <p:cNvPr id="35" name="Text 31"/>
          <p:cNvSpPr/>
          <p:nvPr/>
        </p:nvSpPr>
        <p:spPr>
          <a:xfrm>
            <a:off x="6263640" y="1216152"/>
            <a:ext cx="2651760" cy="274320"/>
          </a:xfrm>
          <a:prstGeom prst="rect">
            <a:avLst/>
          </a:prstGeom>
          <a:noFill/>
          <a:ln/>
        </p:spPr>
        <p:txBody>
          <a:bodyPr wrap="square" rtlCol="0" anchor="ctr"/>
          <a:lstStyle/>
          <a:p>
            <a:pPr marL="0" indent="0">
              <a:buNone/>
            </a:pPr>
            <a:r>
              <a:rPr lang="en-US" sz="1000" b="1" dirty="0">
                <a:solidFill>
                  <a:srgbClr val="4FC3F7"/>
                </a:solidFill>
                <a:latin typeface="Calibri" pitchFamily="34" charset="0"/>
                <a:ea typeface="Calibri" pitchFamily="34" charset="-122"/>
                <a:cs typeface="Calibri" pitchFamily="34" charset="-120"/>
              </a:rPr>
              <a:t>Project Name</a:t>
            </a:r>
            <a:endParaRPr lang="en-US" sz="1000" dirty="0"/>
          </a:p>
        </p:txBody>
      </p:sp>
      <p:sp>
        <p:nvSpPr>
          <p:cNvPr id="36" name="Text 32"/>
          <p:cNvSpPr/>
          <p:nvPr/>
        </p:nvSpPr>
        <p:spPr>
          <a:xfrm>
            <a:off x="6263640" y="1490472"/>
            <a:ext cx="2651760" cy="384048"/>
          </a:xfrm>
          <a:prstGeom prst="rect">
            <a:avLst/>
          </a:prstGeom>
          <a:noFill/>
          <a:ln/>
        </p:spPr>
        <p:txBody>
          <a:bodyPr wrap="square" rtlCol="0" anchor="ctr"/>
          <a:lstStyle/>
          <a:p>
            <a:pPr marL="0" indent="0">
              <a:buNone/>
            </a:pPr>
            <a:endParaRPr lang="en-US" sz="1200" dirty="0"/>
          </a:p>
        </p:txBody>
      </p:sp>
      <p:sp>
        <p:nvSpPr>
          <p:cNvPr id="37" name="Shape 33"/>
          <p:cNvSpPr/>
          <p:nvPr/>
        </p:nvSpPr>
        <p:spPr>
          <a:xfrm>
            <a:off x="6126480" y="2194560"/>
            <a:ext cx="2834640" cy="868680"/>
          </a:xfrm>
          <a:prstGeom prst="roundRect">
            <a:avLst>
              <a:gd name="adj" fmla="val 8421"/>
            </a:avLst>
          </a:prstGeom>
          <a:solidFill>
            <a:srgbClr val="141B2D"/>
          </a:solidFill>
          <a:ln w="12700">
            <a:solidFill>
              <a:srgbClr val="1E2D4A"/>
            </a:solidFill>
            <a:prstDash val="solid"/>
          </a:ln>
        </p:spPr>
        <p:txBody>
          <a:bodyPr/>
          <a:lstStyle/>
          <a:p>
            <a:endParaRPr lang="en-US"/>
          </a:p>
        </p:txBody>
      </p:sp>
      <p:sp>
        <p:nvSpPr>
          <p:cNvPr id="38" name="Text 34"/>
          <p:cNvSpPr/>
          <p:nvPr/>
        </p:nvSpPr>
        <p:spPr>
          <a:xfrm>
            <a:off x="6263640" y="2267712"/>
            <a:ext cx="2651760" cy="274320"/>
          </a:xfrm>
          <a:prstGeom prst="rect">
            <a:avLst/>
          </a:prstGeom>
          <a:noFill/>
          <a:ln/>
        </p:spPr>
        <p:txBody>
          <a:bodyPr wrap="square" rtlCol="0" anchor="ctr"/>
          <a:lstStyle/>
          <a:p>
            <a:pPr marL="0" indent="0">
              <a:buNone/>
            </a:pPr>
            <a:r>
              <a:rPr lang="en-US" sz="1000" b="1" dirty="0">
                <a:solidFill>
                  <a:srgbClr val="4FC3F7"/>
                </a:solidFill>
                <a:latin typeface="Calibri" pitchFamily="34" charset="0"/>
                <a:ea typeface="Calibri" pitchFamily="34" charset="-122"/>
                <a:cs typeface="Calibri" pitchFamily="34" charset="-120"/>
              </a:rPr>
              <a:t>Tech Stack</a:t>
            </a:r>
            <a:endParaRPr lang="en-US" sz="1000" dirty="0"/>
          </a:p>
        </p:txBody>
      </p:sp>
      <p:sp>
        <p:nvSpPr>
          <p:cNvPr id="39" name="Text 35"/>
          <p:cNvSpPr/>
          <p:nvPr/>
        </p:nvSpPr>
        <p:spPr>
          <a:xfrm>
            <a:off x="6263640" y="2542032"/>
            <a:ext cx="2651760" cy="384048"/>
          </a:xfrm>
          <a:prstGeom prst="rect">
            <a:avLst/>
          </a:prstGeom>
          <a:noFill/>
          <a:ln/>
        </p:spPr>
        <p:txBody>
          <a:bodyPr wrap="square" rtlCol="0" anchor="ctr"/>
          <a:lstStyle/>
          <a:p>
            <a:r>
              <a:rPr lang="en-US" sz="1200" dirty="0">
                <a:solidFill>
                  <a:srgbClr val="8892A4"/>
                </a:solidFill>
                <a:latin typeface="Calibri" pitchFamily="34" charset="0"/>
                <a:ea typeface="Calibri" pitchFamily="34" charset="-122"/>
                <a:cs typeface="Calibri" pitchFamily="34" charset="-120"/>
              </a:rPr>
              <a:t>Selenium WebDriver · Java · TestNG · Postman · </a:t>
            </a:r>
            <a:r>
              <a:rPr lang="en-US" sz="1200" dirty="0" err="1">
                <a:solidFill>
                  <a:srgbClr val="8892A4"/>
                </a:solidFill>
                <a:latin typeface="Calibri" pitchFamily="34" charset="0"/>
                <a:ea typeface="Calibri" pitchFamily="34" charset="-122"/>
                <a:cs typeface="Calibri" pitchFamily="34" charset="-120"/>
              </a:rPr>
              <a:t>Mailsaur</a:t>
            </a:r>
            <a:r>
              <a:rPr lang="en-US" sz="1200" dirty="0">
                <a:solidFill>
                  <a:srgbClr val="8892A4"/>
                </a:solidFill>
                <a:latin typeface="Calibri" pitchFamily="34" charset="0"/>
                <a:ea typeface="Calibri" pitchFamily="34" charset="-122"/>
                <a:cs typeface="Calibri" pitchFamily="34" charset="-120"/>
              </a:rPr>
              <a:t> · Excel</a:t>
            </a:r>
          </a:p>
        </p:txBody>
      </p:sp>
      <p:sp>
        <p:nvSpPr>
          <p:cNvPr id="40" name="Shape 36"/>
          <p:cNvSpPr/>
          <p:nvPr/>
        </p:nvSpPr>
        <p:spPr>
          <a:xfrm>
            <a:off x="6126480" y="3246120"/>
            <a:ext cx="2834640" cy="868680"/>
          </a:xfrm>
          <a:prstGeom prst="roundRect">
            <a:avLst>
              <a:gd name="adj" fmla="val 8421"/>
            </a:avLst>
          </a:prstGeom>
          <a:solidFill>
            <a:srgbClr val="141B2D"/>
          </a:solidFill>
          <a:ln w="12700">
            <a:solidFill>
              <a:srgbClr val="1E2D4A"/>
            </a:solidFill>
            <a:prstDash val="solid"/>
          </a:ln>
        </p:spPr>
        <p:txBody>
          <a:bodyPr/>
          <a:lstStyle/>
          <a:p>
            <a:endParaRPr lang="en-US"/>
          </a:p>
        </p:txBody>
      </p:sp>
      <p:sp>
        <p:nvSpPr>
          <p:cNvPr id="41" name="Text 37"/>
          <p:cNvSpPr/>
          <p:nvPr/>
        </p:nvSpPr>
        <p:spPr>
          <a:xfrm>
            <a:off x="6263640" y="3319272"/>
            <a:ext cx="2651760" cy="274320"/>
          </a:xfrm>
          <a:prstGeom prst="rect">
            <a:avLst/>
          </a:prstGeom>
          <a:noFill/>
          <a:ln/>
        </p:spPr>
        <p:txBody>
          <a:bodyPr wrap="square" rtlCol="0" anchor="ctr"/>
          <a:lstStyle/>
          <a:p>
            <a:pPr marL="0" indent="0">
              <a:buNone/>
            </a:pPr>
            <a:r>
              <a:rPr lang="en-US" sz="1000" b="1" dirty="0">
                <a:solidFill>
                  <a:srgbClr val="4FC3F7"/>
                </a:solidFill>
                <a:latin typeface="Calibri" pitchFamily="34" charset="0"/>
                <a:ea typeface="Calibri" pitchFamily="34" charset="-122"/>
                <a:cs typeface="Calibri" pitchFamily="34" charset="-120"/>
              </a:rPr>
              <a:t>Supervisor</a:t>
            </a:r>
            <a:endParaRPr lang="en-US" sz="1000" dirty="0"/>
          </a:p>
        </p:txBody>
      </p:sp>
      <p:sp>
        <p:nvSpPr>
          <p:cNvPr id="42" name="Text 38"/>
          <p:cNvSpPr/>
          <p:nvPr/>
        </p:nvSpPr>
        <p:spPr>
          <a:xfrm>
            <a:off x="6263640" y="3593592"/>
            <a:ext cx="2651760" cy="384048"/>
          </a:xfrm>
          <a:prstGeom prst="rect">
            <a:avLst/>
          </a:prstGeom>
          <a:noFill/>
          <a:ln/>
        </p:spPr>
        <p:txBody>
          <a:bodyPr wrap="square" lIns="91440" tIns="45720" rIns="91440" bIns="45720" rtlCol="0" anchor="ctr"/>
          <a:lstStyle/>
          <a:p>
            <a:pPr rtl="1"/>
            <a:r>
              <a:rPr lang="ar-EG" sz="1200">
                <a:solidFill>
                  <a:srgbClr val="8892A4"/>
                </a:solidFill>
                <a:ea typeface="Calibri"/>
                <a:cs typeface="Calibri"/>
              </a:rPr>
              <a:t>Basil khalid</a:t>
            </a:r>
            <a:endParaRPr lang="ar-EG" sz="1200" dirty="0">
              <a:solidFill>
                <a:srgbClr val="8892A4"/>
              </a:solidFill>
              <a:ea typeface="Calibri"/>
              <a:cs typeface="Calibri"/>
            </a:endParaRPr>
          </a:p>
        </p:txBody>
      </p:sp>
      <p:sp>
        <p:nvSpPr>
          <p:cNvPr id="43" name="Shape 20">
            <a:extLst>
              <a:ext uri="{FF2B5EF4-FFF2-40B4-BE49-F238E27FC236}">
                <a16:creationId xmlns:a16="http://schemas.microsoft.com/office/drawing/2014/main" id="{E6D9E188-012A-6862-1C16-EE0ED6568ED3}"/>
              </a:ext>
            </a:extLst>
          </p:cNvPr>
          <p:cNvSpPr/>
          <p:nvPr/>
        </p:nvSpPr>
        <p:spPr>
          <a:xfrm>
            <a:off x="3205416" y="3364992"/>
            <a:ext cx="2368456" cy="772668"/>
          </a:xfrm>
          <a:prstGeom prst="roundRect">
            <a:avLst>
              <a:gd name="adj" fmla="val 8000"/>
            </a:avLst>
          </a:prstGeom>
          <a:solidFill>
            <a:srgbClr val="1A2340"/>
          </a:solidFill>
          <a:ln w="12700">
            <a:solidFill>
              <a:srgbClr val="7030A0"/>
            </a:solidFill>
            <a:prstDash val="solid"/>
          </a:ln>
        </p:spPr>
        <p:txBody>
          <a:bodyPr/>
          <a:lstStyle/>
          <a:p>
            <a:endParaRPr lang="en-US"/>
          </a:p>
        </p:txBody>
      </p:sp>
      <p:sp>
        <p:nvSpPr>
          <p:cNvPr id="44" name="Shape 21">
            <a:extLst>
              <a:ext uri="{FF2B5EF4-FFF2-40B4-BE49-F238E27FC236}">
                <a16:creationId xmlns:a16="http://schemas.microsoft.com/office/drawing/2014/main" id="{25738498-1D66-9D8F-1B99-E1570364A0B8}"/>
              </a:ext>
            </a:extLst>
          </p:cNvPr>
          <p:cNvSpPr/>
          <p:nvPr/>
        </p:nvSpPr>
        <p:spPr>
          <a:xfrm>
            <a:off x="3288364" y="3615309"/>
            <a:ext cx="394743" cy="386334"/>
          </a:xfrm>
          <a:prstGeom prst="ellipse">
            <a:avLst/>
          </a:prstGeom>
          <a:solidFill>
            <a:srgbClr val="7030A0">
              <a:alpha val="80000"/>
            </a:srgbClr>
          </a:solidFill>
          <a:ln w="12700">
            <a:solidFill>
              <a:srgbClr val="7030A0"/>
            </a:solidFill>
            <a:prstDash val="solid"/>
          </a:ln>
        </p:spPr>
        <p:txBody>
          <a:bodyPr/>
          <a:lstStyle/>
          <a:p>
            <a:endParaRPr lang="en-US"/>
          </a:p>
        </p:txBody>
      </p:sp>
      <p:sp>
        <p:nvSpPr>
          <p:cNvPr id="45" name="Text 22">
            <a:extLst>
              <a:ext uri="{FF2B5EF4-FFF2-40B4-BE49-F238E27FC236}">
                <a16:creationId xmlns:a16="http://schemas.microsoft.com/office/drawing/2014/main" id="{A094B9EE-E908-AC11-8766-0D3568FD9710}"/>
              </a:ext>
            </a:extLst>
          </p:cNvPr>
          <p:cNvSpPr/>
          <p:nvPr/>
        </p:nvSpPr>
        <p:spPr>
          <a:xfrm>
            <a:off x="3288364" y="3615309"/>
            <a:ext cx="394743" cy="386334"/>
          </a:xfrm>
          <a:prstGeom prst="rect">
            <a:avLst/>
          </a:prstGeom>
          <a:noFill/>
          <a:ln/>
        </p:spPr>
        <p:txBody>
          <a:bodyPr wrap="square" lIns="91440" tIns="45720" rIns="91440" bIns="45720" rtlCol="0" anchor="ctr"/>
          <a:lstStyle/>
          <a:p>
            <a:pPr marL="0" indent="0" algn="ctr">
              <a:buNone/>
            </a:pPr>
            <a:r>
              <a:rPr lang="ar-EG" sz="1400" b="1">
                <a:solidFill>
                  <a:srgbClr val="F1F5FB"/>
                </a:solidFill>
                <a:latin typeface="Calibri"/>
                <a:ea typeface="Calibri"/>
                <a:cs typeface="Calibri"/>
              </a:rPr>
              <a:t>S</a:t>
            </a:r>
            <a:endParaRPr lang="en-US" sz="1400" dirty="0"/>
          </a:p>
        </p:txBody>
      </p:sp>
      <p:sp>
        <p:nvSpPr>
          <p:cNvPr id="46" name="Text 23">
            <a:extLst>
              <a:ext uri="{FF2B5EF4-FFF2-40B4-BE49-F238E27FC236}">
                <a16:creationId xmlns:a16="http://schemas.microsoft.com/office/drawing/2014/main" id="{72B90D71-276D-D904-5F4C-35FA9E8EA9BF}"/>
              </a:ext>
            </a:extLst>
          </p:cNvPr>
          <p:cNvSpPr/>
          <p:nvPr/>
        </p:nvSpPr>
        <p:spPr>
          <a:xfrm>
            <a:off x="3837004" y="3496437"/>
            <a:ext cx="1736868" cy="293614"/>
          </a:xfrm>
          <a:prstGeom prst="rect">
            <a:avLst/>
          </a:prstGeom>
          <a:noFill/>
          <a:ln/>
        </p:spPr>
        <p:txBody>
          <a:bodyPr wrap="square" lIns="91440" tIns="45720" rIns="91440" bIns="45720" rtlCol="0" anchor="ctr"/>
          <a:lstStyle/>
          <a:p>
            <a:r>
              <a:rPr lang="ar-EG" sz="1300" b="1">
                <a:solidFill>
                  <a:srgbClr val="F1F5FB"/>
                </a:solidFill>
                <a:latin typeface="Calibri"/>
                <a:ea typeface="Calibri"/>
                <a:cs typeface="Calibri"/>
              </a:rPr>
              <a:t>Sameh Atef</a:t>
            </a:r>
            <a:endParaRPr lang="en-US"/>
          </a:p>
        </p:txBody>
      </p:sp>
      <p:sp>
        <p:nvSpPr>
          <p:cNvPr id="47" name="Text 24">
            <a:extLst>
              <a:ext uri="{FF2B5EF4-FFF2-40B4-BE49-F238E27FC236}">
                <a16:creationId xmlns:a16="http://schemas.microsoft.com/office/drawing/2014/main" id="{E65B4427-8D09-B185-6061-CCF0DCCCBE9C}"/>
              </a:ext>
            </a:extLst>
          </p:cNvPr>
          <p:cNvSpPr/>
          <p:nvPr/>
        </p:nvSpPr>
        <p:spPr>
          <a:xfrm>
            <a:off x="3837004" y="3843909"/>
            <a:ext cx="1736868" cy="247254"/>
          </a:xfrm>
          <a:prstGeom prst="rect">
            <a:avLst/>
          </a:prstGeom>
          <a:noFill/>
          <a:ln/>
        </p:spPr>
        <p:txBody>
          <a:bodyPr wrap="square" rtlCol="0" anchor="ctr"/>
          <a:lstStyle/>
          <a:p>
            <a:pPr marL="0" indent="0">
              <a:buNone/>
            </a:pPr>
            <a:r>
              <a:rPr lang="en-US" sz="1000" dirty="0">
                <a:solidFill>
                  <a:srgbClr val="7030A0"/>
                </a:solidFill>
                <a:latin typeface="Calibri" pitchFamily="34" charset="0"/>
                <a:ea typeface="Calibri" pitchFamily="34" charset="-122"/>
                <a:cs typeface="Calibri" pitchFamily="34" charset="-120"/>
              </a:rPr>
              <a:t>QA Engineer</a:t>
            </a:r>
            <a:endParaRPr lang="en-US" sz="1000" dirty="0">
              <a:solidFill>
                <a:srgbClr val="7030A0"/>
              </a:solidFill>
            </a:endParaRPr>
          </a:p>
        </p:txBody>
      </p:sp>
      <p:sp>
        <p:nvSpPr>
          <p:cNvPr id="53" name="Shape 25">
            <a:extLst>
              <a:ext uri="{FF2B5EF4-FFF2-40B4-BE49-F238E27FC236}">
                <a16:creationId xmlns:a16="http://schemas.microsoft.com/office/drawing/2014/main" id="{E24472F5-79A5-5D4D-6702-0E29BF321D57}"/>
              </a:ext>
            </a:extLst>
          </p:cNvPr>
          <p:cNvSpPr/>
          <p:nvPr/>
        </p:nvSpPr>
        <p:spPr>
          <a:xfrm>
            <a:off x="270844" y="4307830"/>
            <a:ext cx="2368456" cy="772668"/>
          </a:xfrm>
          <a:prstGeom prst="roundRect">
            <a:avLst>
              <a:gd name="adj" fmla="val 8000"/>
            </a:avLst>
          </a:prstGeom>
          <a:solidFill>
            <a:srgbClr val="1A2340"/>
          </a:solidFill>
          <a:ln w="12700">
            <a:solidFill>
              <a:srgbClr val="FFFF00"/>
            </a:solidFill>
            <a:prstDash val="solid"/>
          </a:ln>
        </p:spPr>
        <p:txBody>
          <a:bodyPr/>
          <a:lstStyle/>
          <a:p>
            <a:endParaRPr lang="en-US"/>
          </a:p>
        </p:txBody>
      </p:sp>
      <p:sp>
        <p:nvSpPr>
          <p:cNvPr id="54" name="Shape 26">
            <a:extLst>
              <a:ext uri="{FF2B5EF4-FFF2-40B4-BE49-F238E27FC236}">
                <a16:creationId xmlns:a16="http://schemas.microsoft.com/office/drawing/2014/main" id="{99E4BD59-731A-2CA4-3FE3-40A8885130D0}"/>
              </a:ext>
            </a:extLst>
          </p:cNvPr>
          <p:cNvSpPr/>
          <p:nvPr/>
        </p:nvSpPr>
        <p:spPr>
          <a:xfrm>
            <a:off x="365760" y="4519422"/>
            <a:ext cx="394743" cy="386334"/>
          </a:xfrm>
          <a:prstGeom prst="ellipse">
            <a:avLst/>
          </a:prstGeom>
          <a:solidFill>
            <a:srgbClr val="FFFF00">
              <a:alpha val="80000"/>
            </a:srgbClr>
          </a:solidFill>
          <a:ln w="12700">
            <a:solidFill>
              <a:srgbClr val="FFFF00"/>
            </a:solidFill>
            <a:prstDash val="solid"/>
          </a:ln>
        </p:spPr>
        <p:txBody>
          <a:bodyPr/>
          <a:lstStyle/>
          <a:p>
            <a:endParaRPr lang="en-US"/>
          </a:p>
        </p:txBody>
      </p:sp>
      <p:sp>
        <p:nvSpPr>
          <p:cNvPr id="55" name="Text 27">
            <a:extLst>
              <a:ext uri="{FF2B5EF4-FFF2-40B4-BE49-F238E27FC236}">
                <a16:creationId xmlns:a16="http://schemas.microsoft.com/office/drawing/2014/main" id="{249D6D29-0F37-8017-DCD7-27D20C21EB8F}"/>
              </a:ext>
            </a:extLst>
          </p:cNvPr>
          <p:cNvSpPr/>
          <p:nvPr/>
        </p:nvSpPr>
        <p:spPr>
          <a:xfrm>
            <a:off x="365760" y="4519422"/>
            <a:ext cx="394743" cy="386334"/>
          </a:xfrm>
          <a:prstGeom prst="rect">
            <a:avLst/>
          </a:prstGeom>
          <a:noFill/>
          <a:ln/>
        </p:spPr>
        <p:txBody>
          <a:bodyPr wrap="square" lIns="91440" tIns="45720" rIns="91440" bIns="45720" rtlCol="0" anchor="ctr"/>
          <a:lstStyle/>
          <a:p>
            <a:pPr marL="0" indent="0" algn="ctr">
              <a:buNone/>
            </a:pPr>
            <a:r>
              <a:rPr lang="ar-EG" sz="1400" b="1">
                <a:solidFill>
                  <a:srgbClr val="F1F5FB"/>
                </a:solidFill>
                <a:latin typeface="Calibri"/>
                <a:ea typeface="Calibri"/>
                <a:cs typeface="Calibri"/>
              </a:rPr>
              <a:t>Y</a:t>
            </a:r>
            <a:endParaRPr lang="en-US" sz="1400" dirty="0"/>
          </a:p>
        </p:txBody>
      </p:sp>
      <p:sp>
        <p:nvSpPr>
          <p:cNvPr id="56" name="Text 28">
            <a:extLst>
              <a:ext uri="{FF2B5EF4-FFF2-40B4-BE49-F238E27FC236}">
                <a16:creationId xmlns:a16="http://schemas.microsoft.com/office/drawing/2014/main" id="{8821469F-3CFC-D8CB-EE4F-AECA9647055E}"/>
              </a:ext>
            </a:extLst>
          </p:cNvPr>
          <p:cNvSpPr/>
          <p:nvPr/>
        </p:nvSpPr>
        <p:spPr>
          <a:xfrm>
            <a:off x="914400" y="4400550"/>
            <a:ext cx="1736868" cy="293614"/>
          </a:xfrm>
          <a:prstGeom prst="rect">
            <a:avLst/>
          </a:prstGeom>
          <a:noFill/>
          <a:ln/>
        </p:spPr>
        <p:txBody>
          <a:bodyPr wrap="square" lIns="91440" tIns="45720" rIns="91440" bIns="45720" rtlCol="0" anchor="ctr"/>
          <a:lstStyle/>
          <a:p>
            <a:r>
              <a:rPr lang="ar-EG" sz="1300" b="1">
                <a:solidFill>
                  <a:srgbClr val="F1F5FB"/>
                </a:solidFill>
                <a:latin typeface="Calibri"/>
                <a:ea typeface="Calibri"/>
                <a:cs typeface="Calibri"/>
              </a:rPr>
              <a:t>Yousef Mohamed</a:t>
            </a:r>
            <a:endParaRPr lang="en-US"/>
          </a:p>
        </p:txBody>
      </p:sp>
      <p:sp>
        <p:nvSpPr>
          <p:cNvPr id="57" name="Text 29">
            <a:extLst>
              <a:ext uri="{FF2B5EF4-FFF2-40B4-BE49-F238E27FC236}">
                <a16:creationId xmlns:a16="http://schemas.microsoft.com/office/drawing/2014/main" id="{1756F307-6A5A-39DE-237A-EC4C5CC0E9A8}"/>
              </a:ext>
            </a:extLst>
          </p:cNvPr>
          <p:cNvSpPr/>
          <p:nvPr/>
        </p:nvSpPr>
        <p:spPr>
          <a:xfrm>
            <a:off x="914400" y="4748022"/>
            <a:ext cx="1736868" cy="247254"/>
          </a:xfrm>
          <a:prstGeom prst="rect">
            <a:avLst/>
          </a:prstGeom>
          <a:noFill/>
          <a:ln/>
        </p:spPr>
        <p:txBody>
          <a:bodyPr wrap="square" rtlCol="0" anchor="ctr"/>
          <a:lstStyle/>
          <a:p>
            <a:pPr marL="0" indent="0">
              <a:buNone/>
            </a:pPr>
            <a:r>
              <a:rPr lang="en-US" sz="1000" dirty="0">
                <a:solidFill>
                  <a:srgbClr val="FFFF00"/>
                </a:solidFill>
                <a:latin typeface="Calibri" pitchFamily="34" charset="0"/>
                <a:ea typeface="Calibri" pitchFamily="34" charset="-122"/>
                <a:cs typeface="Calibri" pitchFamily="34" charset="-120"/>
              </a:rPr>
              <a:t>QA Engineer</a:t>
            </a:r>
            <a:endParaRPr lang="en-US" sz="1000" dirty="0">
              <a:solidFill>
                <a:srgbClr val="FFFF0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E1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09728" y="73152"/>
            <a:ext cx="658368" cy="658368"/>
          </a:xfrm>
          <a:prstGeom prst="ellipse">
            <a:avLst/>
          </a:prstGeom>
        </p:spPr>
      </p:pic>
      <p:pic>
        <p:nvPicPr>
          <p:cNvPr id="3" name="Image 1" descr="preencoded.png"/>
          <p:cNvPicPr>
            <a:picLocks noChangeAspect="1"/>
          </p:cNvPicPr>
          <p:nvPr/>
        </p:nvPicPr>
        <p:blipFill>
          <a:blip r:embed="rId4"/>
          <a:stretch>
            <a:fillRect/>
          </a:stretch>
        </p:blipFill>
        <p:spPr>
          <a:xfrm>
            <a:off x="8375904" y="73152"/>
            <a:ext cx="658368" cy="566928"/>
          </a:xfrm>
          <a:prstGeom prst="rect">
            <a:avLst/>
          </a:prstGeom>
        </p:spPr>
      </p:pic>
      <p:sp>
        <p:nvSpPr>
          <p:cNvPr id="4" name="Shape 0"/>
          <p:cNvSpPr/>
          <p:nvPr/>
        </p:nvSpPr>
        <p:spPr>
          <a:xfrm>
            <a:off x="5303520" y="777240"/>
            <a:ext cx="3840480" cy="4325112"/>
          </a:xfrm>
          <a:prstGeom prst="rect">
            <a:avLst/>
          </a:prstGeom>
          <a:solidFill>
            <a:srgbClr val="141B2D"/>
          </a:solidFill>
          <a:ln w="12700">
            <a:solidFill>
              <a:srgbClr val="1E2D4A"/>
            </a:solidFill>
            <a:prstDash val="solid"/>
          </a:ln>
        </p:spPr>
        <p:txBody>
          <a:bodyPr/>
          <a:lstStyle/>
          <a:p>
            <a:endParaRPr lang="en-US"/>
          </a:p>
        </p:txBody>
      </p:sp>
      <p:sp>
        <p:nvSpPr>
          <p:cNvPr id="5" name="Shape 1"/>
          <p:cNvSpPr/>
          <p:nvPr/>
        </p:nvSpPr>
        <p:spPr>
          <a:xfrm>
            <a:off x="5943600" y="640080"/>
            <a:ext cx="2926080" cy="2743200"/>
          </a:xfrm>
          <a:prstGeom prst="ellipse">
            <a:avLst/>
          </a:prstGeom>
          <a:solidFill>
            <a:srgbClr val="FF5252">
              <a:alpha val="10000"/>
            </a:srgbClr>
          </a:solidFill>
          <a:ln w="12700">
            <a:solidFill>
              <a:srgbClr val="FF5252"/>
            </a:solidFill>
            <a:prstDash val="solid"/>
          </a:ln>
        </p:spPr>
        <p:txBody>
          <a:bodyPr/>
          <a:lstStyle/>
          <a:p>
            <a:endParaRPr lang="en-US"/>
          </a:p>
        </p:txBody>
      </p:sp>
      <p:sp>
        <p:nvSpPr>
          <p:cNvPr id="6" name="Shape 2"/>
          <p:cNvSpPr/>
          <p:nvPr/>
        </p:nvSpPr>
        <p:spPr>
          <a:xfrm>
            <a:off x="859536" y="402336"/>
            <a:ext cx="1645920" cy="347472"/>
          </a:xfrm>
          <a:prstGeom prst="roundRect">
            <a:avLst>
              <a:gd name="adj" fmla="val 13158"/>
            </a:avLst>
          </a:prstGeom>
          <a:solidFill>
            <a:srgbClr val="FF5252">
              <a:alpha val="20000"/>
            </a:srgbClr>
          </a:solidFill>
          <a:ln w="12700">
            <a:solidFill>
              <a:srgbClr val="FF5252"/>
            </a:solidFill>
            <a:prstDash val="solid"/>
          </a:ln>
        </p:spPr>
        <p:txBody>
          <a:bodyPr/>
          <a:lstStyle/>
          <a:p>
            <a:endParaRPr lang="en-US"/>
          </a:p>
        </p:txBody>
      </p:sp>
      <p:sp>
        <p:nvSpPr>
          <p:cNvPr id="7" name="Text 3"/>
          <p:cNvSpPr/>
          <p:nvPr/>
        </p:nvSpPr>
        <p:spPr>
          <a:xfrm>
            <a:off x="841248" y="402336"/>
            <a:ext cx="1645920" cy="347472"/>
          </a:xfrm>
          <a:prstGeom prst="rect">
            <a:avLst/>
          </a:prstGeom>
          <a:noFill/>
          <a:ln/>
        </p:spPr>
        <p:txBody>
          <a:bodyPr wrap="square" rtlCol="0" anchor="ctr"/>
          <a:lstStyle/>
          <a:p>
            <a:pPr marL="0" indent="0" algn="ctr">
              <a:buNone/>
            </a:pPr>
            <a:r>
              <a:rPr lang="en-US" sz="1100" b="1" kern="0" spc="200" dirty="0">
                <a:solidFill>
                  <a:srgbClr val="FF5252"/>
                </a:solidFill>
                <a:latin typeface="Calibri" pitchFamily="34" charset="0"/>
                <a:ea typeface="Calibri" pitchFamily="34" charset="-122"/>
                <a:cs typeface="Calibri" pitchFamily="34" charset="-120"/>
              </a:rPr>
              <a:t>Overview</a:t>
            </a:r>
            <a:endParaRPr lang="en-US" sz="1100" dirty="0"/>
          </a:p>
        </p:txBody>
      </p:sp>
      <p:sp>
        <p:nvSpPr>
          <p:cNvPr id="8" name="Text 4"/>
          <p:cNvSpPr/>
          <p:nvPr/>
        </p:nvSpPr>
        <p:spPr>
          <a:xfrm>
            <a:off x="365760" y="822960"/>
            <a:ext cx="4572000" cy="594360"/>
          </a:xfrm>
          <a:prstGeom prst="rect">
            <a:avLst/>
          </a:prstGeom>
          <a:noFill/>
          <a:ln/>
        </p:spPr>
        <p:txBody>
          <a:bodyPr wrap="square" rtlCol="0" anchor="ctr"/>
          <a:lstStyle/>
          <a:p>
            <a:pPr marL="0" indent="0">
              <a:buNone/>
            </a:pPr>
            <a:r>
              <a:rPr lang="en-US" sz="3200" b="1" dirty="0">
                <a:solidFill>
                  <a:srgbClr val="F1F5FB"/>
                </a:solidFill>
                <a:latin typeface="Calibri" pitchFamily="34" charset="0"/>
                <a:ea typeface="Calibri" pitchFamily="34" charset="-122"/>
                <a:cs typeface="Calibri" pitchFamily="34" charset="-120"/>
              </a:rPr>
              <a:t>Project</a:t>
            </a:r>
            <a:endParaRPr lang="en-US" sz="3200" dirty="0"/>
          </a:p>
        </p:txBody>
      </p:sp>
      <p:sp>
        <p:nvSpPr>
          <p:cNvPr id="9" name="Text 5"/>
          <p:cNvSpPr/>
          <p:nvPr/>
        </p:nvSpPr>
        <p:spPr>
          <a:xfrm>
            <a:off x="365760" y="1371600"/>
            <a:ext cx="4572000" cy="594360"/>
          </a:xfrm>
          <a:prstGeom prst="rect">
            <a:avLst/>
          </a:prstGeom>
          <a:noFill/>
          <a:ln/>
        </p:spPr>
        <p:txBody>
          <a:bodyPr wrap="square" rtlCol="0" anchor="ctr"/>
          <a:lstStyle/>
          <a:p>
            <a:pPr marL="0" indent="0">
              <a:buNone/>
            </a:pPr>
            <a:r>
              <a:rPr lang="en-US" sz="3200" b="1" dirty="0">
                <a:solidFill>
                  <a:srgbClr val="FF5252"/>
                </a:solidFill>
                <a:latin typeface="Calibri" pitchFamily="34" charset="0"/>
                <a:ea typeface="Calibri" pitchFamily="34" charset="-122"/>
                <a:cs typeface="Calibri" pitchFamily="34" charset="-120"/>
              </a:rPr>
              <a:t>Overview</a:t>
            </a:r>
            <a:endParaRPr lang="en-US" sz="3200" dirty="0"/>
          </a:p>
        </p:txBody>
      </p:sp>
      <p:sp>
        <p:nvSpPr>
          <p:cNvPr id="10" name="Shape 6"/>
          <p:cNvSpPr/>
          <p:nvPr/>
        </p:nvSpPr>
        <p:spPr>
          <a:xfrm>
            <a:off x="365760" y="2011680"/>
            <a:ext cx="3200400" cy="0"/>
          </a:xfrm>
          <a:prstGeom prst="line">
            <a:avLst/>
          </a:prstGeom>
          <a:noFill/>
          <a:ln w="6350">
            <a:solidFill>
              <a:srgbClr val="1E2D4A"/>
            </a:solidFill>
            <a:prstDash val="solid"/>
          </a:ln>
        </p:spPr>
        <p:txBody>
          <a:bodyPr/>
          <a:lstStyle/>
          <a:p>
            <a:endParaRPr lang="en-US"/>
          </a:p>
        </p:txBody>
      </p:sp>
      <p:sp>
        <p:nvSpPr>
          <p:cNvPr id="11" name="Text 7"/>
          <p:cNvSpPr/>
          <p:nvPr/>
        </p:nvSpPr>
        <p:spPr>
          <a:xfrm>
            <a:off x="365760" y="2148840"/>
            <a:ext cx="4663440" cy="1645920"/>
          </a:xfrm>
          <a:prstGeom prst="rect">
            <a:avLst/>
          </a:prstGeom>
          <a:noFill/>
          <a:ln/>
        </p:spPr>
        <p:txBody>
          <a:bodyPr wrap="square" rtlCol="0" anchor="ctr"/>
          <a:lstStyle/>
          <a:p>
            <a:r>
              <a:rPr lang="en-US" sz="1300" dirty="0">
                <a:solidFill>
                  <a:srgbClr val="8892A4"/>
                </a:solidFill>
                <a:latin typeface="Calibri" pitchFamily="34" charset="0"/>
                <a:ea typeface="Calibri" pitchFamily="34" charset="-122"/>
                <a:cs typeface="Calibri" pitchFamily="34" charset="-120"/>
              </a:rPr>
              <a:t>Booking.com is one of the largest travel platforms globally, which made testing it a real challenge requiring comprehensive coverage of a large number of interconnected functional modules, in the absence of any prior test case documentation.</a:t>
            </a:r>
          </a:p>
          <a:p>
            <a:pPr algn="r" rtl="1"/>
            <a:endParaRPr lang="en-US" sz="1300" dirty="0">
              <a:solidFill>
                <a:srgbClr val="8892A4"/>
              </a:solidFill>
              <a:latin typeface="Calibri" pitchFamily="34" charset="0"/>
              <a:ea typeface="Calibri" pitchFamily="34" charset="-122"/>
              <a:cs typeface="Calibri" pitchFamily="34" charset="-120"/>
            </a:endParaRPr>
          </a:p>
        </p:txBody>
      </p:sp>
      <p:sp>
        <p:nvSpPr>
          <p:cNvPr id="12" name="Shape 8"/>
          <p:cNvSpPr/>
          <p:nvPr/>
        </p:nvSpPr>
        <p:spPr>
          <a:xfrm>
            <a:off x="5577840" y="640080"/>
            <a:ext cx="3200400" cy="1097280"/>
          </a:xfrm>
          <a:prstGeom prst="roundRect">
            <a:avLst>
              <a:gd name="adj" fmla="val 6667"/>
            </a:avLst>
          </a:prstGeom>
          <a:solidFill>
            <a:srgbClr val="0F1526"/>
          </a:solidFill>
          <a:ln w="12700">
            <a:solidFill>
              <a:srgbClr val="FF5252"/>
            </a:solidFill>
            <a:prstDash val="solid"/>
          </a:ln>
        </p:spPr>
        <p:txBody>
          <a:bodyPr/>
          <a:lstStyle/>
          <a:p>
            <a:endParaRPr lang="en-US" dirty="0"/>
          </a:p>
        </p:txBody>
      </p:sp>
      <p:sp>
        <p:nvSpPr>
          <p:cNvPr id="13" name="Text 9"/>
          <p:cNvSpPr/>
          <p:nvPr/>
        </p:nvSpPr>
        <p:spPr>
          <a:xfrm>
            <a:off x="5669280" y="731520"/>
            <a:ext cx="548640" cy="502920"/>
          </a:xfrm>
          <a:prstGeom prst="rect">
            <a:avLst/>
          </a:prstGeom>
          <a:noFill/>
          <a:ln/>
        </p:spPr>
        <p:txBody>
          <a:bodyPr wrap="square" rtlCol="0" anchor="ctr"/>
          <a:lstStyle/>
          <a:p>
            <a:pPr marL="0" indent="0" algn="ctr">
              <a:buNone/>
            </a:pPr>
            <a:r>
              <a:rPr lang="en-US" sz="2200" b="1" dirty="0">
                <a:solidFill>
                  <a:srgbClr val="FF5252"/>
                </a:solidFill>
                <a:latin typeface="Calibri" pitchFamily="34" charset="0"/>
                <a:ea typeface="Calibri" pitchFamily="34" charset="-122"/>
                <a:cs typeface="Calibri" pitchFamily="34" charset="-120"/>
              </a:rPr>
              <a:t>01</a:t>
            </a:r>
            <a:endParaRPr lang="en-US" sz="2200" dirty="0"/>
          </a:p>
        </p:txBody>
      </p:sp>
      <p:sp>
        <p:nvSpPr>
          <p:cNvPr id="14" name="Text 10"/>
          <p:cNvSpPr/>
          <p:nvPr/>
        </p:nvSpPr>
        <p:spPr>
          <a:xfrm>
            <a:off x="6263640" y="777240"/>
            <a:ext cx="2377440" cy="365760"/>
          </a:xfrm>
          <a:prstGeom prst="rect">
            <a:avLst/>
          </a:prstGeom>
          <a:noFill/>
          <a:ln/>
        </p:spPr>
        <p:txBody>
          <a:bodyPr wrap="square" rtlCol="0" anchor="ctr"/>
          <a:lstStyle/>
          <a:p>
            <a:r>
              <a:rPr lang="en-US" sz="1500" b="1" dirty="0">
                <a:solidFill>
                  <a:srgbClr val="F1F5FB"/>
                </a:solidFill>
                <a:latin typeface="Calibri" pitchFamily="34" charset="0"/>
                <a:ea typeface="Calibri" pitchFamily="34" charset="-122"/>
                <a:cs typeface="Calibri" pitchFamily="34" charset="-120"/>
              </a:rPr>
              <a:t>Manual Testing</a:t>
            </a:r>
          </a:p>
        </p:txBody>
      </p:sp>
      <p:sp>
        <p:nvSpPr>
          <p:cNvPr id="15" name="Text 11"/>
          <p:cNvSpPr/>
          <p:nvPr/>
        </p:nvSpPr>
        <p:spPr>
          <a:xfrm>
            <a:off x="6309360" y="1120140"/>
            <a:ext cx="2331720" cy="502920"/>
          </a:xfrm>
          <a:prstGeom prst="rect">
            <a:avLst/>
          </a:prstGeom>
          <a:noFill/>
          <a:ln/>
        </p:spPr>
        <p:txBody>
          <a:bodyPr wrap="square" rtlCol="0" anchor="ctr"/>
          <a:lstStyle/>
          <a:p>
            <a:r>
              <a:rPr lang="en-US" sz="1000" dirty="0">
                <a:solidFill>
                  <a:srgbClr val="8892A4"/>
                </a:solidFill>
                <a:latin typeface="Calibri" pitchFamily="34" charset="0"/>
                <a:ea typeface="Calibri" pitchFamily="34" charset="-122"/>
                <a:cs typeface="Calibri" pitchFamily="34" charset="-120"/>
              </a:rPr>
              <a:t>Designing and executing 215 manual test cases distributed across 17 functional modules over two complete test cycles.</a:t>
            </a:r>
          </a:p>
        </p:txBody>
      </p:sp>
      <p:sp>
        <p:nvSpPr>
          <p:cNvPr id="16" name="Shape 12"/>
          <p:cNvSpPr/>
          <p:nvPr/>
        </p:nvSpPr>
        <p:spPr>
          <a:xfrm>
            <a:off x="5577840" y="2011680"/>
            <a:ext cx="3200400" cy="1097280"/>
          </a:xfrm>
          <a:prstGeom prst="roundRect">
            <a:avLst>
              <a:gd name="adj" fmla="val 6667"/>
            </a:avLst>
          </a:prstGeom>
          <a:solidFill>
            <a:srgbClr val="0F1526"/>
          </a:solidFill>
          <a:ln w="12700">
            <a:solidFill>
              <a:srgbClr val="FFB300"/>
            </a:solidFill>
            <a:prstDash val="solid"/>
          </a:ln>
        </p:spPr>
        <p:txBody>
          <a:bodyPr/>
          <a:lstStyle/>
          <a:p>
            <a:endParaRPr lang="en-US" dirty="0"/>
          </a:p>
        </p:txBody>
      </p:sp>
      <p:sp>
        <p:nvSpPr>
          <p:cNvPr id="17" name="Text 13"/>
          <p:cNvSpPr/>
          <p:nvPr/>
        </p:nvSpPr>
        <p:spPr>
          <a:xfrm>
            <a:off x="5669280" y="2103120"/>
            <a:ext cx="548640" cy="502920"/>
          </a:xfrm>
          <a:prstGeom prst="rect">
            <a:avLst/>
          </a:prstGeom>
          <a:noFill/>
          <a:ln/>
        </p:spPr>
        <p:txBody>
          <a:bodyPr wrap="square" rtlCol="0" anchor="ctr"/>
          <a:lstStyle/>
          <a:p>
            <a:pPr marL="0" indent="0" algn="ctr">
              <a:buNone/>
            </a:pPr>
            <a:r>
              <a:rPr lang="en-US" sz="2200" b="1" dirty="0">
                <a:solidFill>
                  <a:srgbClr val="FFB300"/>
                </a:solidFill>
                <a:latin typeface="Calibri" pitchFamily="34" charset="0"/>
                <a:ea typeface="Calibri" pitchFamily="34" charset="-122"/>
                <a:cs typeface="Calibri" pitchFamily="34" charset="-120"/>
              </a:rPr>
              <a:t>02</a:t>
            </a:r>
            <a:endParaRPr lang="en-US" sz="2200" dirty="0"/>
          </a:p>
        </p:txBody>
      </p:sp>
      <p:sp>
        <p:nvSpPr>
          <p:cNvPr id="18" name="Text 14"/>
          <p:cNvSpPr/>
          <p:nvPr/>
        </p:nvSpPr>
        <p:spPr>
          <a:xfrm>
            <a:off x="6263640" y="2148840"/>
            <a:ext cx="2377440" cy="365760"/>
          </a:xfrm>
          <a:prstGeom prst="rect">
            <a:avLst/>
          </a:prstGeom>
          <a:noFill/>
          <a:ln/>
        </p:spPr>
        <p:txBody>
          <a:bodyPr wrap="square" rtlCol="0" anchor="ctr"/>
          <a:lstStyle/>
          <a:p>
            <a:r>
              <a:rPr lang="en-US" sz="1500" b="1" dirty="0">
                <a:solidFill>
                  <a:srgbClr val="F1F5FB"/>
                </a:solidFill>
                <a:latin typeface="Calibri" pitchFamily="34" charset="0"/>
                <a:ea typeface="Calibri" pitchFamily="34" charset="-122"/>
                <a:cs typeface="Calibri" pitchFamily="34" charset="-120"/>
              </a:rPr>
              <a:t>Automation Testing</a:t>
            </a:r>
          </a:p>
        </p:txBody>
      </p:sp>
      <p:sp>
        <p:nvSpPr>
          <p:cNvPr id="19" name="Text 15"/>
          <p:cNvSpPr/>
          <p:nvPr/>
        </p:nvSpPr>
        <p:spPr>
          <a:xfrm>
            <a:off x="6263640" y="2542032"/>
            <a:ext cx="2377440" cy="411480"/>
          </a:xfrm>
          <a:prstGeom prst="rect">
            <a:avLst/>
          </a:prstGeom>
          <a:noFill/>
          <a:ln/>
        </p:spPr>
        <p:txBody>
          <a:bodyPr wrap="square" rtlCol="0" anchor="ctr"/>
          <a:lstStyle/>
          <a:p>
            <a:r>
              <a:rPr lang="en-US" sz="1000" dirty="0">
                <a:solidFill>
                  <a:srgbClr val="8892A4"/>
                </a:solidFill>
                <a:latin typeface="Calibri" pitchFamily="34" charset="0"/>
                <a:ea typeface="Calibri" pitchFamily="34" charset="-122"/>
                <a:cs typeface="Calibri" pitchFamily="34" charset="-120"/>
              </a:rPr>
              <a:t>Building an automated test suite using Selenium WebDriver, Java, and TestNG that covers the most prominent user flows.</a:t>
            </a:r>
          </a:p>
        </p:txBody>
      </p:sp>
      <p:sp>
        <p:nvSpPr>
          <p:cNvPr id="20" name="Shape 16"/>
          <p:cNvSpPr/>
          <p:nvPr/>
        </p:nvSpPr>
        <p:spPr>
          <a:xfrm>
            <a:off x="5577840" y="3383280"/>
            <a:ext cx="3200400" cy="1097280"/>
          </a:xfrm>
          <a:prstGeom prst="roundRect">
            <a:avLst>
              <a:gd name="adj" fmla="val 6667"/>
            </a:avLst>
          </a:prstGeom>
          <a:solidFill>
            <a:srgbClr val="0F1526"/>
          </a:solidFill>
          <a:ln w="12700">
            <a:solidFill>
              <a:srgbClr val="6C63FF"/>
            </a:solidFill>
            <a:prstDash val="solid"/>
          </a:ln>
        </p:spPr>
        <p:txBody>
          <a:bodyPr/>
          <a:lstStyle/>
          <a:p>
            <a:endParaRPr lang="en-US"/>
          </a:p>
        </p:txBody>
      </p:sp>
      <p:sp>
        <p:nvSpPr>
          <p:cNvPr id="21" name="Text 17"/>
          <p:cNvSpPr/>
          <p:nvPr/>
        </p:nvSpPr>
        <p:spPr>
          <a:xfrm>
            <a:off x="5669280" y="3474720"/>
            <a:ext cx="548640" cy="502920"/>
          </a:xfrm>
          <a:prstGeom prst="rect">
            <a:avLst/>
          </a:prstGeom>
          <a:noFill/>
          <a:ln/>
        </p:spPr>
        <p:txBody>
          <a:bodyPr wrap="square" rtlCol="0" anchor="ctr"/>
          <a:lstStyle/>
          <a:p>
            <a:pPr marL="0" indent="0" algn="ctr">
              <a:buNone/>
            </a:pPr>
            <a:r>
              <a:rPr lang="en-US" sz="2200" b="1" dirty="0">
                <a:solidFill>
                  <a:srgbClr val="6C63FF"/>
                </a:solidFill>
                <a:latin typeface="Calibri" pitchFamily="34" charset="0"/>
                <a:ea typeface="Calibri" pitchFamily="34" charset="-122"/>
                <a:cs typeface="Calibri" pitchFamily="34" charset="-120"/>
              </a:rPr>
              <a:t>03</a:t>
            </a:r>
            <a:endParaRPr lang="en-US" sz="2200" dirty="0"/>
          </a:p>
        </p:txBody>
      </p:sp>
      <p:sp>
        <p:nvSpPr>
          <p:cNvPr id="22" name="Text 18"/>
          <p:cNvSpPr/>
          <p:nvPr/>
        </p:nvSpPr>
        <p:spPr>
          <a:xfrm>
            <a:off x="6263640" y="3520440"/>
            <a:ext cx="2377440" cy="365760"/>
          </a:xfrm>
          <a:prstGeom prst="rect">
            <a:avLst/>
          </a:prstGeom>
          <a:noFill/>
          <a:ln/>
        </p:spPr>
        <p:txBody>
          <a:bodyPr wrap="square" rtlCol="0" anchor="ctr"/>
          <a:lstStyle/>
          <a:p>
            <a:r>
              <a:rPr lang="en-US" sz="1500" b="1" dirty="0">
                <a:solidFill>
                  <a:srgbClr val="F1F5FB"/>
                </a:solidFill>
                <a:latin typeface="Calibri" pitchFamily="34" charset="0"/>
                <a:ea typeface="Calibri" pitchFamily="34" charset="-122"/>
                <a:cs typeface="Calibri" pitchFamily="34" charset="-120"/>
              </a:rPr>
              <a:t>Bug Reporting</a:t>
            </a:r>
          </a:p>
        </p:txBody>
      </p:sp>
      <p:sp>
        <p:nvSpPr>
          <p:cNvPr id="23" name="Text 19"/>
          <p:cNvSpPr/>
          <p:nvPr/>
        </p:nvSpPr>
        <p:spPr>
          <a:xfrm>
            <a:off x="6263640" y="3756580"/>
            <a:ext cx="2560320" cy="704088"/>
          </a:xfrm>
          <a:prstGeom prst="rect">
            <a:avLst/>
          </a:prstGeom>
          <a:noFill/>
          <a:ln/>
        </p:spPr>
        <p:txBody>
          <a:bodyPr wrap="square" rtlCol="0" anchor="ctr"/>
          <a:lstStyle/>
          <a:p>
            <a:r>
              <a:rPr lang="en-US" sz="1000" dirty="0">
                <a:solidFill>
                  <a:srgbClr val="8892A4"/>
                </a:solidFill>
                <a:latin typeface="Calibri" pitchFamily="34" charset="0"/>
                <a:ea typeface="Calibri" pitchFamily="34" charset="-122"/>
                <a:cs typeface="Calibri" pitchFamily="34" charset="-120"/>
              </a:rPr>
              <a:t>Tracking and documenting discovered bugs with severity and priority classification, along with delivering a comprehensive coverage report at the end of each test cycle.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0A0E1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09728" y="73152"/>
            <a:ext cx="658368" cy="658368"/>
          </a:xfrm>
          <a:prstGeom prst="ellipse">
            <a:avLst/>
          </a:prstGeom>
        </p:spPr>
      </p:pic>
      <p:pic>
        <p:nvPicPr>
          <p:cNvPr id="3" name="Image 1" descr="preencoded.png"/>
          <p:cNvPicPr>
            <a:picLocks noChangeAspect="1"/>
          </p:cNvPicPr>
          <p:nvPr/>
        </p:nvPicPr>
        <p:blipFill>
          <a:blip r:embed="rId4"/>
          <a:stretch>
            <a:fillRect/>
          </a:stretch>
        </p:blipFill>
        <p:spPr>
          <a:xfrm>
            <a:off x="8375904" y="73152"/>
            <a:ext cx="658368" cy="658368"/>
          </a:xfrm>
          <a:prstGeom prst="rect">
            <a:avLst/>
          </a:prstGeom>
        </p:spPr>
      </p:pic>
      <p:sp>
        <p:nvSpPr>
          <p:cNvPr id="4" name="Text 0"/>
          <p:cNvSpPr/>
          <p:nvPr/>
        </p:nvSpPr>
        <p:spPr>
          <a:xfrm>
            <a:off x="1023256" y="274320"/>
            <a:ext cx="3914503" cy="685800"/>
          </a:xfrm>
          <a:prstGeom prst="rect">
            <a:avLst/>
          </a:prstGeom>
          <a:noFill/>
          <a:ln/>
        </p:spPr>
        <p:txBody>
          <a:bodyPr wrap="square" rtlCol="0" anchor="ctr"/>
          <a:lstStyle/>
          <a:p>
            <a:pPr marL="0" indent="0">
              <a:buNone/>
            </a:pPr>
            <a:r>
              <a:rPr lang="en-US" sz="3600" b="1" dirty="0">
                <a:solidFill>
                  <a:srgbClr val="F1F5FB"/>
                </a:solidFill>
                <a:latin typeface="Calibri" pitchFamily="34" charset="0"/>
                <a:ea typeface="Calibri" pitchFamily="34" charset="-122"/>
                <a:cs typeface="Calibri" pitchFamily="34" charset="-120"/>
              </a:rPr>
              <a:t>Testing</a:t>
            </a:r>
            <a:endParaRPr lang="en-US" sz="3600" dirty="0"/>
          </a:p>
        </p:txBody>
      </p:sp>
      <p:sp>
        <p:nvSpPr>
          <p:cNvPr id="5" name="Text 1"/>
          <p:cNvSpPr/>
          <p:nvPr/>
        </p:nvSpPr>
        <p:spPr>
          <a:xfrm>
            <a:off x="365760" y="914400"/>
            <a:ext cx="4572000" cy="685800"/>
          </a:xfrm>
          <a:prstGeom prst="rect">
            <a:avLst/>
          </a:prstGeom>
          <a:noFill/>
          <a:ln/>
        </p:spPr>
        <p:txBody>
          <a:bodyPr wrap="square" rtlCol="0" anchor="ctr"/>
          <a:lstStyle/>
          <a:p>
            <a:pPr marL="0" indent="0">
              <a:buNone/>
            </a:pPr>
            <a:r>
              <a:rPr lang="en-US" sz="3600" b="1" dirty="0">
                <a:solidFill>
                  <a:srgbClr val="6C63FF"/>
                </a:solidFill>
                <a:latin typeface="Calibri" pitchFamily="34" charset="0"/>
                <a:ea typeface="Calibri" pitchFamily="34" charset="-122"/>
                <a:cs typeface="Calibri" pitchFamily="34" charset="-120"/>
              </a:rPr>
              <a:t>Challenges</a:t>
            </a:r>
            <a:endParaRPr lang="en-US" sz="3600" dirty="0"/>
          </a:p>
        </p:txBody>
      </p:sp>
      <p:sp>
        <p:nvSpPr>
          <p:cNvPr id="6" name="Shape 2"/>
          <p:cNvSpPr/>
          <p:nvPr/>
        </p:nvSpPr>
        <p:spPr>
          <a:xfrm>
            <a:off x="365760" y="1920240"/>
            <a:ext cx="2468880" cy="2560320"/>
          </a:xfrm>
          <a:prstGeom prst="roundRect">
            <a:avLst>
              <a:gd name="adj" fmla="val 3704"/>
            </a:avLst>
          </a:prstGeom>
          <a:solidFill>
            <a:srgbClr val="141B2D"/>
          </a:solidFill>
          <a:ln w="19050">
            <a:solidFill>
              <a:srgbClr val="4FC3F7"/>
            </a:solidFill>
            <a:prstDash val="solid"/>
          </a:ln>
        </p:spPr>
        <p:txBody>
          <a:bodyPr/>
          <a:lstStyle/>
          <a:p>
            <a:endParaRPr lang="en-US" dirty="0"/>
          </a:p>
        </p:txBody>
      </p:sp>
      <p:sp>
        <p:nvSpPr>
          <p:cNvPr id="7" name="Shape 3"/>
          <p:cNvSpPr/>
          <p:nvPr/>
        </p:nvSpPr>
        <p:spPr>
          <a:xfrm>
            <a:off x="1143000" y="2057400"/>
            <a:ext cx="914400" cy="914400"/>
          </a:xfrm>
          <a:prstGeom prst="ellipse">
            <a:avLst/>
          </a:prstGeom>
          <a:solidFill>
            <a:srgbClr val="4FC3F7">
              <a:alpha val="20000"/>
            </a:srgbClr>
          </a:solidFill>
          <a:ln w="12700">
            <a:solidFill>
              <a:srgbClr val="4FC3F7"/>
            </a:solidFill>
            <a:prstDash val="solid"/>
          </a:ln>
        </p:spPr>
        <p:txBody>
          <a:bodyPr/>
          <a:lstStyle/>
          <a:p>
            <a:endParaRPr lang="en-US"/>
          </a:p>
        </p:txBody>
      </p:sp>
      <p:sp>
        <p:nvSpPr>
          <p:cNvPr id="8" name="Text 4"/>
          <p:cNvSpPr/>
          <p:nvPr/>
        </p:nvSpPr>
        <p:spPr>
          <a:xfrm>
            <a:off x="365760" y="2286000"/>
            <a:ext cx="2468880" cy="411480"/>
          </a:xfrm>
          <a:prstGeom prst="rect">
            <a:avLst/>
          </a:prstGeom>
          <a:noFill/>
          <a:ln/>
        </p:spPr>
        <p:txBody>
          <a:bodyPr wrap="square" rtlCol="0" anchor="ctr"/>
          <a:lstStyle/>
          <a:p>
            <a:pPr algn="ctr"/>
            <a:r>
              <a:rPr lang="en-US" sz="1100" b="1" dirty="0">
                <a:solidFill>
                  <a:srgbClr val="4FC3F7"/>
                </a:solidFill>
                <a:latin typeface="Calibri" pitchFamily="34" charset="0"/>
                <a:ea typeface="Calibri" pitchFamily="34" charset="-122"/>
                <a:cs typeface="Calibri" pitchFamily="34" charset="-120"/>
              </a:rPr>
              <a:t>Wide Coverage</a:t>
            </a:r>
          </a:p>
        </p:txBody>
      </p:sp>
      <p:sp>
        <p:nvSpPr>
          <p:cNvPr id="9" name="Text 5"/>
          <p:cNvSpPr/>
          <p:nvPr/>
        </p:nvSpPr>
        <p:spPr>
          <a:xfrm>
            <a:off x="365760" y="3198876"/>
            <a:ext cx="2468880" cy="914400"/>
          </a:xfrm>
          <a:prstGeom prst="rect">
            <a:avLst/>
          </a:prstGeom>
          <a:noFill/>
          <a:ln/>
        </p:spPr>
        <p:txBody>
          <a:bodyPr wrap="square" rtlCol="0" anchor="ctr"/>
          <a:lstStyle/>
          <a:p>
            <a:pPr algn="ctr" rtl="1"/>
            <a:r>
              <a:rPr lang="en-US" sz="1100" dirty="0">
                <a:solidFill>
                  <a:srgbClr val="8892A4"/>
                </a:solidFill>
                <a:latin typeface="Calibri" pitchFamily="34" charset="0"/>
                <a:ea typeface="Calibri" pitchFamily="34" charset="-122"/>
                <a:cs typeface="Calibri" pitchFamily="34" charset="-120"/>
              </a:rPr>
              <a:t>The Booking.com platform contains dozens of interconnected functional flows, making defining the test scope and ensuring comprehensive coverage within the available time a real challenge.</a:t>
            </a:r>
          </a:p>
        </p:txBody>
      </p:sp>
      <p:sp>
        <p:nvSpPr>
          <p:cNvPr id="10" name="Shape 6"/>
          <p:cNvSpPr/>
          <p:nvPr/>
        </p:nvSpPr>
        <p:spPr>
          <a:xfrm>
            <a:off x="2837843" y="3500628"/>
            <a:ext cx="365760" cy="0"/>
          </a:xfrm>
          <a:prstGeom prst="line">
            <a:avLst/>
          </a:prstGeom>
          <a:noFill/>
          <a:ln w="25400">
            <a:solidFill>
              <a:srgbClr val="1E2D4A"/>
            </a:solidFill>
            <a:prstDash val="solid"/>
          </a:ln>
        </p:spPr>
        <p:txBody>
          <a:bodyPr/>
          <a:lstStyle/>
          <a:p>
            <a:endParaRPr lang="en-US"/>
          </a:p>
        </p:txBody>
      </p:sp>
      <p:sp>
        <p:nvSpPr>
          <p:cNvPr id="11" name="Shape 7"/>
          <p:cNvSpPr/>
          <p:nvPr/>
        </p:nvSpPr>
        <p:spPr>
          <a:xfrm>
            <a:off x="3200400" y="1920240"/>
            <a:ext cx="2468880" cy="2560320"/>
          </a:xfrm>
          <a:prstGeom prst="roundRect">
            <a:avLst>
              <a:gd name="adj" fmla="val 3704"/>
            </a:avLst>
          </a:prstGeom>
          <a:solidFill>
            <a:srgbClr val="141B2D"/>
          </a:solidFill>
          <a:ln w="19050">
            <a:solidFill>
              <a:srgbClr val="6C63FF"/>
            </a:solidFill>
            <a:prstDash val="solid"/>
          </a:ln>
        </p:spPr>
        <p:txBody>
          <a:bodyPr/>
          <a:lstStyle/>
          <a:p>
            <a:endParaRPr lang="en-US"/>
          </a:p>
        </p:txBody>
      </p:sp>
      <p:sp>
        <p:nvSpPr>
          <p:cNvPr id="12" name="Shape 8"/>
          <p:cNvSpPr/>
          <p:nvPr/>
        </p:nvSpPr>
        <p:spPr>
          <a:xfrm>
            <a:off x="3977640" y="2057400"/>
            <a:ext cx="914400" cy="914400"/>
          </a:xfrm>
          <a:prstGeom prst="ellipse">
            <a:avLst/>
          </a:prstGeom>
          <a:solidFill>
            <a:srgbClr val="6C63FF">
              <a:alpha val="20000"/>
            </a:srgbClr>
          </a:solidFill>
          <a:ln w="12700">
            <a:solidFill>
              <a:srgbClr val="6C63FF"/>
            </a:solidFill>
            <a:prstDash val="solid"/>
          </a:ln>
        </p:spPr>
        <p:txBody>
          <a:bodyPr/>
          <a:lstStyle/>
          <a:p>
            <a:endParaRPr lang="en-US"/>
          </a:p>
        </p:txBody>
      </p:sp>
      <p:sp>
        <p:nvSpPr>
          <p:cNvPr id="13" name="Text 9"/>
          <p:cNvSpPr/>
          <p:nvPr/>
        </p:nvSpPr>
        <p:spPr>
          <a:xfrm>
            <a:off x="3200400" y="2308860"/>
            <a:ext cx="2468880" cy="411480"/>
          </a:xfrm>
          <a:prstGeom prst="rect">
            <a:avLst/>
          </a:prstGeom>
          <a:noFill/>
          <a:ln/>
        </p:spPr>
        <p:txBody>
          <a:bodyPr wrap="square" rtlCol="0" anchor="ctr"/>
          <a:lstStyle/>
          <a:p>
            <a:pPr algn="ctr" rtl="1"/>
            <a:r>
              <a:rPr lang="en-US" sz="1100" b="1" dirty="0">
                <a:solidFill>
                  <a:srgbClr val="6C63FF"/>
                </a:solidFill>
                <a:latin typeface="Calibri" pitchFamily="34" charset="0"/>
                <a:ea typeface="Calibri" pitchFamily="34" charset="-122"/>
                <a:cs typeface="Calibri" pitchFamily="34" charset="-120"/>
              </a:rPr>
              <a:t>Sign-in</a:t>
            </a:r>
          </a:p>
        </p:txBody>
      </p:sp>
      <p:sp>
        <p:nvSpPr>
          <p:cNvPr id="14" name="Text 10"/>
          <p:cNvSpPr/>
          <p:nvPr/>
        </p:nvSpPr>
        <p:spPr>
          <a:xfrm>
            <a:off x="3203448" y="3180588"/>
            <a:ext cx="2468880" cy="934204"/>
          </a:xfrm>
          <a:prstGeom prst="rect">
            <a:avLst/>
          </a:prstGeom>
          <a:noFill/>
          <a:ln/>
        </p:spPr>
        <p:txBody>
          <a:bodyPr wrap="square" rtlCol="0" anchor="ctr"/>
          <a:lstStyle/>
          <a:p>
            <a:pPr algn="ctr"/>
            <a:r>
              <a:rPr lang="en-US" sz="1100" dirty="0">
                <a:solidFill>
                  <a:srgbClr val="8892A4"/>
                </a:solidFill>
                <a:latin typeface="Calibri" pitchFamily="34" charset="0"/>
                <a:ea typeface="Calibri" pitchFamily="34" charset="-122"/>
                <a:cs typeface="Calibri" pitchFamily="34" charset="-120"/>
              </a:rPr>
              <a:t>The OTP mechanism brought automated login testing to a complete halt — the script cannot pass the verification screen, which blocked all test cases built on an authenticated user session.</a:t>
            </a:r>
          </a:p>
        </p:txBody>
      </p:sp>
      <p:sp>
        <p:nvSpPr>
          <p:cNvPr id="15" name="Shape 11"/>
          <p:cNvSpPr/>
          <p:nvPr/>
        </p:nvSpPr>
        <p:spPr>
          <a:xfrm>
            <a:off x="5694528" y="3470148"/>
            <a:ext cx="365760" cy="0"/>
          </a:xfrm>
          <a:prstGeom prst="line">
            <a:avLst/>
          </a:prstGeom>
          <a:noFill/>
          <a:ln w="25400">
            <a:solidFill>
              <a:srgbClr val="1E2D4A"/>
            </a:solidFill>
            <a:prstDash val="solid"/>
          </a:ln>
        </p:spPr>
        <p:txBody>
          <a:bodyPr/>
          <a:lstStyle/>
          <a:p>
            <a:endParaRPr lang="en-US"/>
          </a:p>
        </p:txBody>
      </p:sp>
      <p:sp>
        <p:nvSpPr>
          <p:cNvPr id="16" name="Shape 12"/>
          <p:cNvSpPr/>
          <p:nvPr/>
        </p:nvSpPr>
        <p:spPr>
          <a:xfrm>
            <a:off x="6035040" y="1920240"/>
            <a:ext cx="2468880" cy="2560320"/>
          </a:xfrm>
          <a:prstGeom prst="roundRect">
            <a:avLst>
              <a:gd name="adj" fmla="val 3704"/>
            </a:avLst>
          </a:prstGeom>
          <a:solidFill>
            <a:srgbClr val="141B2D"/>
          </a:solidFill>
          <a:ln w="19050">
            <a:solidFill>
              <a:srgbClr val="00E676"/>
            </a:solidFill>
            <a:prstDash val="solid"/>
          </a:ln>
        </p:spPr>
        <p:txBody>
          <a:bodyPr/>
          <a:lstStyle/>
          <a:p>
            <a:endParaRPr lang="en-US"/>
          </a:p>
        </p:txBody>
      </p:sp>
      <p:sp>
        <p:nvSpPr>
          <p:cNvPr id="17" name="Shape 13"/>
          <p:cNvSpPr/>
          <p:nvPr/>
        </p:nvSpPr>
        <p:spPr>
          <a:xfrm>
            <a:off x="6812280" y="2057400"/>
            <a:ext cx="914400" cy="914400"/>
          </a:xfrm>
          <a:prstGeom prst="ellipse">
            <a:avLst/>
          </a:prstGeom>
          <a:solidFill>
            <a:srgbClr val="00E676">
              <a:alpha val="20000"/>
            </a:srgbClr>
          </a:solidFill>
          <a:ln w="12700">
            <a:solidFill>
              <a:srgbClr val="00E676"/>
            </a:solidFill>
            <a:prstDash val="solid"/>
          </a:ln>
        </p:spPr>
        <p:txBody>
          <a:bodyPr/>
          <a:lstStyle/>
          <a:p>
            <a:endParaRPr lang="en-US"/>
          </a:p>
        </p:txBody>
      </p:sp>
      <p:sp>
        <p:nvSpPr>
          <p:cNvPr id="18" name="Text 14"/>
          <p:cNvSpPr/>
          <p:nvPr/>
        </p:nvSpPr>
        <p:spPr>
          <a:xfrm>
            <a:off x="6035040" y="2308860"/>
            <a:ext cx="2468880" cy="411480"/>
          </a:xfrm>
          <a:prstGeom prst="rect">
            <a:avLst/>
          </a:prstGeom>
          <a:noFill/>
          <a:ln/>
        </p:spPr>
        <p:txBody>
          <a:bodyPr wrap="square" rtlCol="0" anchor="ctr"/>
          <a:lstStyle/>
          <a:p>
            <a:pPr algn="ctr"/>
            <a:r>
              <a:rPr lang="en-US" sz="1100" b="1" dirty="0">
                <a:solidFill>
                  <a:srgbClr val="00E676"/>
                </a:solidFill>
                <a:latin typeface="Calibri" pitchFamily="34" charset="0"/>
                <a:ea typeface="Calibri" pitchFamily="34" charset="-122"/>
                <a:cs typeface="Calibri" pitchFamily="34" charset="-120"/>
              </a:rPr>
              <a:t>Blocked Features</a:t>
            </a:r>
          </a:p>
        </p:txBody>
      </p:sp>
      <p:sp>
        <p:nvSpPr>
          <p:cNvPr id="19" name="Text 15"/>
          <p:cNvSpPr/>
          <p:nvPr/>
        </p:nvSpPr>
        <p:spPr>
          <a:xfrm>
            <a:off x="6035040" y="3144958"/>
            <a:ext cx="2468880" cy="969834"/>
          </a:xfrm>
          <a:prstGeom prst="rect">
            <a:avLst/>
          </a:prstGeom>
          <a:noFill/>
          <a:ln/>
        </p:spPr>
        <p:txBody>
          <a:bodyPr wrap="square" rtlCol="0" anchor="ctr"/>
          <a:lstStyle/>
          <a:p>
            <a:pPr algn="ctr"/>
            <a:r>
              <a:rPr lang="en-US" sz="1100" dirty="0">
                <a:solidFill>
                  <a:srgbClr val="8892A4"/>
                </a:solidFill>
                <a:latin typeface="Calibri" pitchFamily="34" charset="0"/>
                <a:ea typeface="Calibri" pitchFamily="34" charset="-122"/>
                <a:cs typeface="Calibri" pitchFamily="34" charset="-120"/>
              </a:rPr>
              <a:t>30 test cases could not be executed due to features unavailable in the testing environment, which affected coverage completeness and forced the team to document them as Blocked rather than ignore them.</a:t>
            </a:r>
          </a:p>
        </p:txBody>
      </p:sp>
      <p:sp>
        <p:nvSpPr>
          <p:cNvPr id="20" name="Shape 16"/>
          <p:cNvSpPr/>
          <p:nvPr/>
        </p:nvSpPr>
        <p:spPr>
          <a:xfrm>
            <a:off x="5349240" y="169743"/>
            <a:ext cx="2926080" cy="1508760"/>
          </a:xfrm>
          <a:prstGeom prst="roundRect">
            <a:avLst>
              <a:gd name="adj" fmla="val 6061"/>
            </a:avLst>
          </a:prstGeom>
          <a:solidFill>
            <a:srgbClr val="141B2D"/>
          </a:solidFill>
          <a:ln w="12700">
            <a:solidFill>
              <a:srgbClr val="1E2D4A"/>
            </a:solidFill>
            <a:prstDash val="solid"/>
          </a:ln>
        </p:spPr>
        <p:txBody>
          <a:bodyPr/>
          <a:lstStyle/>
          <a:p>
            <a:endParaRPr lang="en-US" dirty="0"/>
          </a:p>
        </p:txBody>
      </p:sp>
      <p:sp>
        <p:nvSpPr>
          <p:cNvPr id="21" name="Text 17"/>
          <p:cNvSpPr/>
          <p:nvPr/>
        </p:nvSpPr>
        <p:spPr>
          <a:xfrm>
            <a:off x="6080760" y="365760"/>
            <a:ext cx="2651760" cy="347472"/>
          </a:xfrm>
          <a:prstGeom prst="rect">
            <a:avLst/>
          </a:prstGeom>
          <a:noFill/>
          <a:ln/>
        </p:spPr>
        <p:txBody>
          <a:bodyPr wrap="square" rtlCol="0" anchor="ctr"/>
          <a:lstStyle/>
          <a:p>
            <a:r>
              <a:rPr lang="en-US" sz="1300" b="1" dirty="0">
                <a:solidFill>
                  <a:srgbClr val="6C63FF"/>
                </a:solidFill>
                <a:latin typeface="Calibri" pitchFamily="34" charset="0"/>
                <a:ea typeface="Calibri" pitchFamily="34" charset="-122"/>
                <a:cs typeface="Calibri" pitchFamily="34" charset="-120"/>
              </a:rPr>
              <a:t>1. </a:t>
            </a:r>
            <a:r>
              <a:rPr lang="en-US" sz="1300" dirty="0">
                <a:solidFill>
                  <a:srgbClr val="F1F5FB"/>
                </a:solidFill>
                <a:latin typeface="Calibri" pitchFamily="34" charset="0"/>
                <a:ea typeface="Calibri" pitchFamily="34" charset="-122"/>
                <a:cs typeface="Calibri" pitchFamily="34" charset="-120"/>
              </a:rPr>
              <a:t>Wide Coverage</a:t>
            </a:r>
          </a:p>
        </p:txBody>
      </p:sp>
      <p:sp>
        <p:nvSpPr>
          <p:cNvPr id="22" name="Text 18"/>
          <p:cNvSpPr/>
          <p:nvPr/>
        </p:nvSpPr>
        <p:spPr>
          <a:xfrm>
            <a:off x="6080760" y="777240"/>
            <a:ext cx="2651760" cy="347472"/>
          </a:xfrm>
          <a:prstGeom prst="rect">
            <a:avLst/>
          </a:prstGeom>
          <a:noFill/>
          <a:ln/>
        </p:spPr>
        <p:txBody>
          <a:bodyPr wrap="square" rtlCol="0" anchor="ctr"/>
          <a:lstStyle/>
          <a:p>
            <a:r>
              <a:rPr lang="en-US" sz="1300" b="1" dirty="0">
                <a:solidFill>
                  <a:srgbClr val="6C63FF"/>
                </a:solidFill>
                <a:latin typeface="Calibri" pitchFamily="34" charset="0"/>
                <a:ea typeface="Calibri" pitchFamily="34" charset="-122"/>
                <a:cs typeface="Calibri" pitchFamily="34" charset="-120"/>
              </a:rPr>
              <a:t>2. </a:t>
            </a:r>
            <a:r>
              <a:rPr lang="en-US" sz="1300" dirty="0">
                <a:solidFill>
                  <a:srgbClr val="F1F5FB"/>
                </a:solidFill>
                <a:latin typeface="Calibri" pitchFamily="34" charset="0"/>
                <a:ea typeface="Calibri" pitchFamily="34" charset="-122"/>
                <a:cs typeface="Calibri" pitchFamily="34" charset="-120"/>
              </a:rPr>
              <a:t>Sign-in Using OTP</a:t>
            </a:r>
          </a:p>
        </p:txBody>
      </p:sp>
      <p:sp>
        <p:nvSpPr>
          <p:cNvPr id="23" name="Text 19"/>
          <p:cNvSpPr/>
          <p:nvPr/>
        </p:nvSpPr>
        <p:spPr>
          <a:xfrm>
            <a:off x="6080760" y="1188720"/>
            <a:ext cx="2651760" cy="347472"/>
          </a:xfrm>
          <a:prstGeom prst="rect">
            <a:avLst/>
          </a:prstGeom>
          <a:noFill/>
          <a:ln/>
        </p:spPr>
        <p:txBody>
          <a:bodyPr wrap="square" rtlCol="0" anchor="ctr"/>
          <a:lstStyle/>
          <a:p>
            <a:r>
              <a:rPr lang="en-US" sz="1300" b="1" dirty="0">
                <a:solidFill>
                  <a:srgbClr val="6C63FF"/>
                </a:solidFill>
                <a:latin typeface="Calibri" pitchFamily="34" charset="0"/>
                <a:ea typeface="Calibri" pitchFamily="34" charset="-122"/>
                <a:cs typeface="Calibri" pitchFamily="34" charset="-120"/>
              </a:rPr>
              <a:t>3. </a:t>
            </a:r>
            <a:r>
              <a:rPr lang="en-US" sz="1300" dirty="0">
                <a:solidFill>
                  <a:srgbClr val="F1F5FB"/>
                </a:solidFill>
                <a:latin typeface="Calibri" pitchFamily="34" charset="0"/>
                <a:ea typeface="Calibri" pitchFamily="34" charset="-122"/>
                <a:cs typeface="Calibri" pitchFamily="34" charset="-120"/>
              </a:rPr>
              <a:t>Blocked Features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A0E1A"/>
        </a:solidFill>
        <a:effectLst/>
      </p:bgPr>
    </p:bg>
    <p:spTree>
      <p:nvGrpSpPr>
        <p:cNvPr id="1" name=""/>
        <p:cNvGrpSpPr/>
        <p:nvPr/>
      </p:nvGrpSpPr>
      <p:grpSpPr>
        <a:xfrm>
          <a:off x="0" y="0"/>
          <a:ext cx="0" cy="0"/>
          <a:chOff x="0" y="0"/>
          <a:chExt cx="0" cy="0"/>
        </a:xfrm>
      </p:grpSpPr>
      <p:sp>
        <p:nvSpPr>
          <p:cNvPr id="4" name="Shape 0"/>
          <p:cNvSpPr/>
          <p:nvPr/>
        </p:nvSpPr>
        <p:spPr>
          <a:xfrm>
            <a:off x="0" y="73152"/>
            <a:ext cx="9144000" cy="1024128"/>
          </a:xfrm>
          <a:prstGeom prst="rect">
            <a:avLst/>
          </a:prstGeom>
          <a:solidFill>
            <a:srgbClr val="141B2D"/>
          </a:solidFill>
          <a:ln w="12700">
            <a:solidFill>
              <a:srgbClr val="1E2D4A"/>
            </a:solidFill>
            <a:prstDash val="solid"/>
          </a:ln>
        </p:spPr>
        <p:txBody>
          <a:bodyPr/>
          <a:lstStyle/>
          <a:p>
            <a:endParaRPr lang="en-US"/>
          </a:p>
        </p:txBody>
      </p:sp>
      <p:pic>
        <p:nvPicPr>
          <p:cNvPr id="2" name="Image 0" descr="preencoded.png"/>
          <p:cNvPicPr>
            <a:picLocks noChangeAspect="1"/>
          </p:cNvPicPr>
          <p:nvPr/>
        </p:nvPicPr>
        <p:blipFill>
          <a:blip r:embed="rId3"/>
          <a:stretch>
            <a:fillRect/>
          </a:stretch>
        </p:blipFill>
        <p:spPr>
          <a:xfrm>
            <a:off x="109728" y="73152"/>
            <a:ext cx="658368" cy="658368"/>
          </a:xfrm>
          <a:prstGeom prst="ellipse">
            <a:avLst/>
          </a:prstGeom>
        </p:spPr>
      </p:pic>
      <p:pic>
        <p:nvPicPr>
          <p:cNvPr id="3" name="Image 1" descr="preencoded.png"/>
          <p:cNvPicPr>
            <a:picLocks noChangeAspect="1"/>
          </p:cNvPicPr>
          <p:nvPr/>
        </p:nvPicPr>
        <p:blipFill>
          <a:blip r:embed="rId4"/>
          <a:stretch>
            <a:fillRect/>
          </a:stretch>
        </p:blipFill>
        <p:spPr>
          <a:xfrm>
            <a:off x="8375904" y="73152"/>
            <a:ext cx="658368" cy="658368"/>
          </a:xfrm>
          <a:prstGeom prst="rect">
            <a:avLst/>
          </a:prstGeom>
        </p:spPr>
      </p:pic>
      <p:sp>
        <p:nvSpPr>
          <p:cNvPr id="5" name="Shape 1"/>
          <p:cNvSpPr/>
          <p:nvPr/>
        </p:nvSpPr>
        <p:spPr>
          <a:xfrm>
            <a:off x="0" y="0"/>
            <a:ext cx="9144000" cy="54864"/>
          </a:xfrm>
          <a:prstGeom prst="rect">
            <a:avLst/>
          </a:prstGeom>
          <a:solidFill>
            <a:schemeClr val="accent6">
              <a:lumMod val="75000"/>
            </a:schemeClr>
          </a:solidFill>
          <a:ln w="12700">
            <a:solidFill>
              <a:srgbClr val="45E838"/>
            </a:solidFill>
            <a:prstDash val="solid"/>
          </a:ln>
        </p:spPr>
        <p:txBody>
          <a:bodyPr/>
          <a:lstStyle/>
          <a:p>
            <a:endParaRPr lang="en-US"/>
          </a:p>
        </p:txBody>
      </p:sp>
      <p:sp>
        <p:nvSpPr>
          <p:cNvPr id="6" name="Shape 2"/>
          <p:cNvSpPr/>
          <p:nvPr/>
        </p:nvSpPr>
        <p:spPr>
          <a:xfrm>
            <a:off x="320040" y="768096"/>
            <a:ext cx="1645920" cy="329184"/>
          </a:xfrm>
          <a:prstGeom prst="roundRect">
            <a:avLst>
              <a:gd name="adj" fmla="val 13889"/>
            </a:avLst>
          </a:prstGeom>
          <a:solidFill>
            <a:srgbClr val="45E838">
              <a:alpha val="20000"/>
            </a:srgbClr>
          </a:solidFill>
          <a:ln w="12700">
            <a:solidFill>
              <a:srgbClr val="45E838"/>
            </a:solidFill>
            <a:prstDash val="solid"/>
          </a:ln>
        </p:spPr>
        <p:txBody>
          <a:bodyPr/>
          <a:lstStyle/>
          <a:p>
            <a:endParaRPr lang="en-US"/>
          </a:p>
        </p:txBody>
      </p:sp>
      <p:sp>
        <p:nvSpPr>
          <p:cNvPr id="7" name="Text 3"/>
          <p:cNvSpPr/>
          <p:nvPr/>
        </p:nvSpPr>
        <p:spPr>
          <a:xfrm>
            <a:off x="320040" y="761902"/>
            <a:ext cx="1645920" cy="329184"/>
          </a:xfrm>
          <a:prstGeom prst="rect">
            <a:avLst/>
          </a:prstGeom>
          <a:noFill/>
          <a:ln/>
        </p:spPr>
        <p:txBody>
          <a:bodyPr wrap="square" rtlCol="0" anchor="ctr"/>
          <a:lstStyle/>
          <a:p>
            <a:pPr marL="0" indent="0" algn="ctr">
              <a:buNone/>
            </a:pPr>
            <a:r>
              <a:rPr lang="en-US" sz="1000" b="1" kern="0" spc="200" dirty="0">
                <a:solidFill>
                  <a:srgbClr val="45E838"/>
                </a:solidFill>
                <a:latin typeface="Calibri" pitchFamily="34" charset="0"/>
                <a:ea typeface="Calibri" pitchFamily="34" charset="-122"/>
                <a:cs typeface="Calibri" pitchFamily="34" charset="-120"/>
              </a:rPr>
              <a:t>Approach</a:t>
            </a:r>
            <a:endParaRPr lang="en-US" sz="1000" dirty="0">
              <a:solidFill>
                <a:srgbClr val="45E838"/>
              </a:solidFill>
            </a:endParaRPr>
          </a:p>
        </p:txBody>
      </p:sp>
      <p:sp>
        <p:nvSpPr>
          <p:cNvPr id="8" name="Text 4"/>
          <p:cNvSpPr/>
          <p:nvPr/>
        </p:nvSpPr>
        <p:spPr>
          <a:xfrm>
            <a:off x="3554095" y="374904"/>
            <a:ext cx="2035810" cy="640080"/>
          </a:xfrm>
          <a:prstGeom prst="rect">
            <a:avLst/>
          </a:prstGeom>
          <a:noFill/>
          <a:ln/>
        </p:spPr>
        <p:txBody>
          <a:bodyPr wrap="square" rtlCol="0" anchor="ctr"/>
          <a:lstStyle/>
          <a:p>
            <a:pPr marL="0" indent="0" algn="ctr">
              <a:buNone/>
            </a:pPr>
            <a:r>
              <a:rPr lang="en-US" sz="2600" b="1" dirty="0">
                <a:solidFill>
                  <a:srgbClr val="F1F5FB"/>
                </a:solidFill>
                <a:latin typeface="Calibri" pitchFamily="34" charset="0"/>
                <a:ea typeface="Calibri" pitchFamily="34" charset="-122"/>
                <a:cs typeface="Calibri" pitchFamily="34" charset="-120"/>
              </a:rPr>
              <a:t>QA Approach</a:t>
            </a:r>
            <a:endParaRPr lang="en-US" sz="2600" dirty="0"/>
          </a:p>
        </p:txBody>
      </p:sp>
      <p:sp>
        <p:nvSpPr>
          <p:cNvPr id="9" name="Text 5"/>
          <p:cNvSpPr/>
          <p:nvPr/>
        </p:nvSpPr>
        <p:spPr>
          <a:xfrm>
            <a:off x="2286000" y="713232"/>
            <a:ext cx="6400800" cy="320040"/>
          </a:xfrm>
          <a:prstGeom prst="rect">
            <a:avLst/>
          </a:prstGeom>
          <a:noFill/>
          <a:ln/>
        </p:spPr>
        <p:txBody>
          <a:bodyPr wrap="square" rtlCol="0" anchor="ctr"/>
          <a:lstStyle/>
          <a:p>
            <a:pPr marL="0" indent="0">
              <a:buNone/>
            </a:pPr>
            <a:endParaRPr lang="en-US" sz="1100" dirty="0"/>
          </a:p>
        </p:txBody>
      </p:sp>
      <p:sp>
        <p:nvSpPr>
          <p:cNvPr id="10" name="Shape 6"/>
          <p:cNvSpPr/>
          <p:nvPr/>
        </p:nvSpPr>
        <p:spPr>
          <a:xfrm>
            <a:off x="365760" y="1280160"/>
            <a:ext cx="4114800" cy="1554480"/>
          </a:xfrm>
          <a:prstGeom prst="roundRect">
            <a:avLst>
              <a:gd name="adj" fmla="val 5882"/>
            </a:avLst>
          </a:prstGeom>
          <a:solidFill>
            <a:srgbClr val="1A2340"/>
          </a:solidFill>
          <a:ln w="12700">
            <a:solidFill>
              <a:srgbClr val="6C63FF"/>
            </a:solidFill>
            <a:prstDash val="solid"/>
          </a:ln>
        </p:spPr>
        <p:txBody>
          <a:bodyPr/>
          <a:lstStyle/>
          <a:p>
            <a:endParaRPr lang="en-US"/>
          </a:p>
        </p:txBody>
      </p:sp>
      <p:sp>
        <p:nvSpPr>
          <p:cNvPr id="11" name="Shape 7"/>
          <p:cNvSpPr/>
          <p:nvPr/>
        </p:nvSpPr>
        <p:spPr>
          <a:xfrm>
            <a:off x="365760" y="1280160"/>
            <a:ext cx="4114800" cy="365760"/>
          </a:xfrm>
          <a:prstGeom prst="roundRect">
            <a:avLst>
              <a:gd name="adj" fmla="val 25000"/>
            </a:avLst>
          </a:prstGeom>
          <a:solidFill>
            <a:srgbClr val="6C63FF">
              <a:alpha val="25000"/>
            </a:srgbClr>
          </a:solidFill>
          <a:ln w="12700">
            <a:solidFill>
              <a:srgbClr val="6C63FF"/>
            </a:solidFill>
            <a:prstDash val="solid"/>
          </a:ln>
        </p:spPr>
        <p:txBody>
          <a:bodyPr/>
          <a:lstStyle/>
          <a:p>
            <a:endParaRPr lang="en-US"/>
          </a:p>
        </p:txBody>
      </p:sp>
      <p:sp>
        <p:nvSpPr>
          <p:cNvPr id="12" name="Text 8"/>
          <p:cNvSpPr/>
          <p:nvPr/>
        </p:nvSpPr>
        <p:spPr>
          <a:xfrm>
            <a:off x="548640" y="1325880"/>
            <a:ext cx="3749040" cy="347472"/>
          </a:xfrm>
          <a:prstGeom prst="rect">
            <a:avLst/>
          </a:prstGeom>
          <a:noFill/>
          <a:ln/>
        </p:spPr>
        <p:txBody>
          <a:bodyPr wrap="square" rtlCol="0" anchor="ctr"/>
          <a:lstStyle/>
          <a:p>
            <a:pPr marL="0" indent="0">
              <a:buNone/>
            </a:pPr>
            <a:r>
              <a:rPr lang="en-US" sz="1400" b="1" dirty="0">
                <a:solidFill>
                  <a:srgbClr val="6C63FF"/>
                </a:solidFill>
                <a:latin typeface="Calibri" pitchFamily="34" charset="0"/>
                <a:ea typeface="Calibri" pitchFamily="34" charset="-122"/>
                <a:cs typeface="Calibri" pitchFamily="34" charset="-120"/>
              </a:rPr>
              <a:t>Main Solution</a:t>
            </a:r>
            <a:endParaRPr lang="en-US" sz="1400" dirty="0"/>
          </a:p>
        </p:txBody>
      </p:sp>
      <p:sp>
        <p:nvSpPr>
          <p:cNvPr id="13" name="Text 9"/>
          <p:cNvSpPr/>
          <p:nvPr/>
        </p:nvSpPr>
        <p:spPr>
          <a:xfrm>
            <a:off x="548640" y="1783080"/>
            <a:ext cx="3749040" cy="822960"/>
          </a:xfrm>
          <a:prstGeom prst="rect">
            <a:avLst/>
          </a:prstGeom>
          <a:noFill/>
          <a:ln/>
        </p:spPr>
        <p:txBody>
          <a:bodyPr wrap="square" rtlCol="0" anchor="ctr"/>
          <a:lstStyle/>
          <a:p>
            <a:pPr algn="l"/>
            <a:r>
              <a:rPr lang="en-US" sz="1200" dirty="0">
                <a:solidFill>
                  <a:srgbClr val="8892A4"/>
                </a:solidFill>
                <a:latin typeface="Calibri" pitchFamily="34" charset="0"/>
                <a:ea typeface="Calibri" pitchFamily="34" charset="-122"/>
                <a:cs typeface="Calibri" pitchFamily="34" charset="-120"/>
              </a:rPr>
              <a:t>Designing and executing two test cycles of 215 manual test cases distributed across 17 functional modules, supported by a Selenium automated test suite covering the most prominent user flows.</a:t>
            </a:r>
            <a:endParaRPr lang="en-US" sz="1200" dirty="0"/>
          </a:p>
        </p:txBody>
      </p:sp>
      <p:sp>
        <p:nvSpPr>
          <p:cNvPr id="14" name="Shape 10"/>
          <p:cNvSpPr/>
          <p:nvPr/>
        </p:nvSpPr>
        <p:spPr>
          <a:xfrm>
            <a:off x="4754880" y="1280160"/>
            <a:ext cx="4114800" cy="1554480"/>
          </a:xfrm>
          <a:prstGeom prst="roundRect">
            <a:avLst>
              <a:gd name="adj" fmla="val 5882"/>
            </a:avLst>
          </a:prstGeom>
          <a:solidFill>
            <a:srgbClr val="1A2340"/>
          </a:solidFill>
          <a:ln w="12700">
            <a:solidFill>
              <a:srgbClr val="00E676"/>
            </a:solidFill>
            <a:prstDash val="solid"/>
          </a:ln>
        </p:spPr>
        <p:txBody>
          <a:bodyPr/>
          <a:lstStyle/>
          <a:p>
            <a:endParaRPr lang="en-US"/>
          </a:p>
        </p:txBody>
      </p:sp>
      <p:sp>
        <p:nvSpPr>
          <p:cNvPr id="15" name="Shape 11"/>
          <p:cNvSpPr/>
          <p:nvPr/>
        </p:nvSpPr>
        <p:spPr>
          <a:xfrm>
            <a:off x="4754880" y="1280160"/>
            <a:ext cx="4114800" cy="365760"/>
          </a:xfrm>
          <a:prstGeom prst="roundRect">
            <a:avLst>
              <a:gd name="adj" fmla="val 25000"/>
            </a:avLst>
          </a:prstGeom>
          <a:solidFill>
            <a:srgbClr val="00E676">
              <a:alpha val="25000"/>
            </a:srgbClr>
          </a:solidFill>
          <a:ln w="12700">
            <a:solidFill>
              <a:srgbClr val="00E676"/>
            </a:solidFill>
            <a:prstDash val="solid"/>
          </a:ln>
        </p:spPr>
        <p:txBody>
          <a:bodyPr/>
          <a:lstStyle/>
          <a:p>
            <a:endParaRPr lang="en-US"/>
          </a:p>
        </p:txBody>
      </p:sp>
      <p:sp>
        <p:nvSpPr>
          <p:cNvPr id="16" name="Text 12"/>
          <p:cNvSpPr/>
          <p:nvPr/>
        </p:nvSpPr>
        <p:spPr>
          <a:xfrm>
            <a:off x="4937760" y="1325880"/>
            <a:ext cx="3749040" cy="347472"/>
          </a:xfrm>
          <a:prstGeom prst="rect">
            <a:avLst/>
          </a:prstGeom>
          <a:noFill/>
          <a:ln/>
        </p:spPr>
        <p:txBody>
          <a:bodyPr wrap="square" rtlCol="0" anchor="ctr"/>
          <a:lstStyle/>
          <a:p>
            <a:pPr marL="0" indent="0">
              <a:buNone/>
            </a:pPr>
            <a:r>
              <a:rPr lang="en-US" sz="1400" b="1" dirty="0">
                <a:solidFill>
                  <a:srgbClr val="00E676"/>
                </a:solidFill>
                <a:latin typeface="Calibri" pitchFamily="34" charset="0"/>
                <a:ea typeface="Calibri" pitchFamily="34" charset="-122"/>
                <a:cs typeface="Calibri" pitchFamily="34" charset="-120"/>
              </a:rPr>
              <a:t>Advantages</a:t>
            </a:r>
            <a:endParaRPr lang="en-US" sz="1400" dirty="0"/>
          </a:p>
        </p:txBody>
      </p:sp>
      <p:sp>
        <p:nvSpPr>
          <p:cNvPr id="17" name="Text 13"/>
          <p:cNvSpPr/>
          <p:nvPr/>
        </p:nvSpPr>
        <p:spPr>
          <a:xfrm>
            <a:off x="4937760" y="1783080"/>
            <a:ext cx="3749040" cy="822960"/>
          </a:xfrm>
          <a:prstGeom prst="rect">
            <a:avLst/>
          </a:prstGeom>
          <a:noFill/>
          <a:ln/>
        </p:spPr>
        <p:txBody>
          <a:bodyPr wrap="square" rtlCol="0" anchor="ctr"/>
          <a:lstStyle/>
          <a:p>
            <a:pPr algn="l"/>
            <a:r>
              <a:rPr lang="en-US" sz="1200" dirty="0">
                <a:solidFill>
                  <a:srgbClr val="8892A4"/>
                </a:solidFill>
                <a:latin typeface="Calibri" pitchFamily="34" charset="0"/>
                <a:ea typeface="Calibri" pitchFamily="34" charset="-122"/>
                <a:cs typeface="Calibri" pitchFamily="34" charset="-120"/>
              </a:rPr>
              <a:t>Running two test cycles with clear tracking of pass, fail, and skip cases, documenting bugs with severity and priority classification, and resolving OTP issue via </a:t>
            </a:r>
            <a:r>
              <a:rPr lang="en-US" sz="1200" dirty="0" err="1">
                <a:solidFill>
                  <a:srgbClr val="8892A4"/>
                </a:solidFill>
                <a:latin typeface="Calibri" pitchFamily="34" charset="0"/>
                <a:ea typeface="Calibri" pitchFamily="34" charset="-122"/>
                <a:cs typeface="Calibri" pitchFamily="34" charset="-120"/>
              </a:rPr>
              <a:t>Mailsaur</a:t>
            </a:r>
            <a:r>
              <a:rPr lang="en-US" sz="1200" dirty="0">
                <a:solidFill>
                  <a:srgbClr val="8892A4"/>
                </a:solidFill>
                <a:latin typeface="Calibri" pitchFamily="34" charset="0"/>
                <a:ea typeface="Calibri" pitchFamily="34" charset="-122"/>
                <a:cs typeface="Calibri" pitchFamily="34" charset="-120"/>
              </a:rPr>
              <a:t>.</a:t>
            </a:r>
          </a:p>
        </p:txBody>
      </p:sp>
      <p:sp>
        <p:nvSpPr>
          <p:cNvPr id="18" name="Shape 14"/>
          <p:cNvSpPr/>
          <p:nvPr/>
        </p:nvSpPr>
        <p:spPr>
          <a:xfrm>
            <a:off x="365760" y="3017520"/>
            <a:ext cx="4114800" cy="1554480"/>
          </a:xfrm>
          <a:prstGeom prst="roundRect">
            <a:avLst>
              <a:gd name="adj" fmla="val 5882"/>
            </a:avLst>
          </a:prstGeom>
          <a:solidFill>
            <a:srgbClr val="1A2340"/>
          </a:solidFill>
          <a:ln w="12700">
            <a:solidFill>
              <a:srgbClr val="4FC3F7"/>
            </a:solidFill>
            <a:prstDash val="solid"/>
          </a:ln>
        </p:spPr>
        <p:txBody>
          <a:bodyPr/>
          <a:lstStyle/>
          <a:p>
            <a:endParaRPr lang="en-US"/>
          </a:p>
        </p:txBody>
      </p:sp>
      <p:sp>
        <p:nvSpPr>
          <p:cNvPr id="19" name="Shape 15"/>
          <p:cNvSpPr/>
          <p:nvPr/>
        </p:nvSpPr>
        <p:spPr>
          <a:xfrm>
            <a:off x="365760" y="3017520"/>
            <a:ext cx="4114800" cy="365760"/>
          </a:xfrm>
          <a:prstGeom prst="roundRect">
            <a:avLst>
              <a:gd name="adj" fmla="val 25000"/>
            </a:avLst>
          </a:prstGeom>
          <a:solidFill>
            <a:srgbClr val="4FC3F7">
              <a:alpha val="25000"/>
            </a:srgbClr>
          </a:solidFill>
          <a:ln w="12700">
            <a:solidFill>
              <a:srgbClr val="4FC3F7"/>
            </a:solidFill>
            <a:prstDash val="solid"/>
          </a:ln>
        </p:spPr>
        <p:txBody>
          <a:bodyPr/>
          <a:lstStyle/>
          <a:p>
            <a:endParaRPr lang="en-US"/>
          </a:p>
        </p:txBody>
      </p:sp>
      <p:sp>
        <p:nvSpPr>
          <p:cNvPr id="20" name="Text 16"/>
          <p:cNvSpPr/>
          <p:nvPr/>
        </p:nvSpPr>
        <p:spPr>
          <a:xfrm>
            <a:off x="548640" y="3063240"/>
            <a:ext cx="3749040" cy="347472"/>
          </a:xfrm>
          <a:prstGeom prst="rect">
            <a:avLst/>
          </a:prstGeom>
          <a:noFill/>
          <a:ln/>
        </p:spPr>
        <p:txBody>
          <a:bodyPr wrap="square" rtlCol="0" anchor="ctr"/>
          <a:lstStyle/>
          <a:p>
            <a:pPr marL="0" indent="0">
              <a:buNone/>
            </a:pPr>
            <a:r>
              <a:rPr lang="en-US" sz="1400" b="1" dirty="0">
                <a:solidFill>
                  <a:srgbClr val="4FC3F7"/>
                </a:solidFill>
                <a:latin typeface="Calibri" pitchFamily="34" charset="0"/>
                <a:ea typeface="Calibri" pitchFamily="34" charset="-122"/>
                <a:cs typeface="Calibri" pitchFamily="34" charset="-120"/>
              </a:rPr>
              <a:t>Technologies Used</a:t>
            </a:r>
            <a:endParaRPr lang="en-US" sz="1400" dirty="0"/>
          </a:p>
        </p:txBody>
      </p:sp>
      <p:sp>
        <p:nvSpPr>
          <p:cNvPr id="21" name="Text 17"/>
          <p:cNvSpPr/>
          <p:nvPr/>
        </p:nvSpPr>
        <p:spPr>
          <a:xfrm>
            <a:off x="548640" y="3520440"/>
            <a:ext cx="3749040" cy="822960"/>
          </a:xfrm>
          <a:prstGeom prst="rect">
            <a:avLst/>
          </a:prstGeom>
          <a:noFill/>
          <a:ln/>
        </p:spPr>
        <p:txBody>
          <a:bodyPr wrap="square" rtlCol="0" anchor="ctr"/>
          <a:lstStyle/>
          <a:p>
            <a:r>
              <a:rPr lang="en-US" sz="1200" dirty="0">
                <a:solidFill>
                  <a:srgbClr val="8892A4"/>
                </a:solidFill>
                <a:latin typeface="Calibri" pitchFamily="34" charset="0"/>
                <a:ea typeface="Calibri" pitchFamily="34" charset="-122"/>
                <a:cs typeface="Calibri" pitchFamily="34" charset="-120"/>
              </a:rPr>
              <a:t>Selenium WebDriver · Java · TestNG · Postman · </a:t>
            </a:r>
            <a:r>
              <a:rPr lang="en-US" sz="1200" dirty="0" err="1">
                <a:solidFill>
                  <a:srgbClr val="8892A4"/>
                </a:solidFill>
                <a:latin typeface="Calibri" pitchFamily="34" charset="0"/>
                <a:ea typeface="Calibri" pitchFamily="34" charset="-122"/>
                <a:cs typeface="Calibri" pitchFamily="34" charset="-120"/>
              </a:rPr>
              <a:t>Mailsaur</a:t>
            </a:r>
            <a:r>
              <a:rPr lang="en-US" sz="1200" dirty="0">
                <a:solidFill>
                  <a:srgbClr val="8892A4"/>
                </a:solidFill>
                <a:latin typeface="Calibri" pitchFamily="34" charset="0"/>
                <a:ea typeface="Calibri" pitchFamily="34" charset="-122"/>
                <a:cs typeface="Calibri" pitchFamily="34" charset="-120"/>
              </a:rPr>
              <a:t> · Excel</a:t>
            </a:r>
          </a:p>
        </p:txBody>
      </p:sp>
      <p:sp>
        <p:nvSpPr>
          <p:cNvPr id="22" name="Shape 18"/>
          <p:cNvSpPr/>
          <p:nvPr/>
        </p:nvSpPr>
        <p:spPr>
          <a:xfrm>
            <a:off x="4754880" y="3017520"/>
            <a:ext cx="4114800" cy="1554480"/>
          </a:xfrm>
          <a:prstGeom prst="roundRect">
            <a:avLst>
              <a:gd name="adj" fmla="val 5882"/>
            </a:avLst>
          </a:prstGeom>
          <a:solidFill>
            <a:srgbClr val="1A2340"/>
          </a:solidFill>
          <a:ln w="12700">
            <a:solidFill>
              <a:srgbClr val="FFB300"/>
            </a:solidFill>
            <a:prstDash val="solid"/>
          </a:ln>
        </p:spPr>
        <p:txBody>
          <a:bodyPr/>
          <a:lstStyle/>
          <a:p>
            <a:endParaRPr lang="en-US"/>
          </a:p>
        </p:txBody>
      </p:sp>
      <p:sp>
        <p:nvSpPr>
          <p:cNvPr id="23" name="Shape 19"/>
          <p:cNvSpPr/>
          <p:nvPr/>
        </p:nvSpPr>
        <p:spPr>
          <a:xfrm>
            <a:off x="4754880" y="3017520"/>
            <a:ext cx="4114800" cy="365760"/>
          </a:xfrm>
          <a:prstGeom prst="roundRect">
            <a:avLst>
              <a:gd name="adj" fmla="val 25000"/>
            </a:avLst>
          </a:prstGeom>
          <a:solidFill>
            <a:srgbClr val="FFB300">
              <a:alpha val="25000"/>
            </a:srgbClr>
          </a:solidFill>
          <a:ln w="12700">
            <a:solidFill>
              <a:srgbClr val="FFB300"/>
            </a:solidFill>
            <a:prstDash val="solid"/>
          </a:ln>
        </p:spPr>
        <p:txBody>
          <a:bodyPr/>
          <a:lstStyle/>
          <a:p>
            <a:endParaRPr lang="en-US"/>
          </a:p>
        </p:txBody>
      </p:sp>
      <p:sp>
        <p:nvSpPr>
          <p:cNvPr id="24" name="Text 20"/>
          <p:cNvSpPr/>
          <p:nvPr/>
        </p:nvSpPr>
        <p:spPr>
          <a:xfrm>
            <a:off x="4937760" y="3063240"/>
            <a:ext cx="3749040" cy="347472"/>
          </a:xfrm>
          <a:prstGeom prst="rect">
            <a:avLst/>
          </a:prstGeom>
          <a:noFill/>
          <a:ln/>
        </p:spPr>
        <p:txBody>
          <a:bodyPr wrap="square" rtlCol="0" anchor="ctr"/>
          <a:lstStyle/>
          <a:p>
            <a:pPr marL="0" indent="0">
              <a:buNone/>
            </a:pPr>
            <a:r>
              <a:rPr lang="en-US" sz="1400" b="1" dirty="0">
                <a:solidFill>
                  <a:srgbClr val="FFB300"/>
                </a:solidFill>
                <a:latin typeface="Calibri" pitchFamily="34" charset="0"/>
                <a:ea typeface="Calibri" pitchFamily="34" charset="-122"/>
                <a:cs typeface="Calibri" pitchFamily="34" charset="-120"/>
              </a:rPr>
              <a:t>Expected Results</a:t>
            </a:r>
            <a:endParaRPr lang="en-US" sz="1400" dirty="0"/>
          </a:p>
        </p:txBody>
      </p:sp>
      <p:sp>
        <p:nvSpPr>
          <p:cNvPr id="25" name="Text 21"/>
          <p:cNvSpPr/>
          <p:nvPr/>
        </p:nvSpPr>
        <p:spPr>
          <a:xfrm>
            <a:off x="4937760" y="3520440"/>
            <a:ext cx="3749040" cy="822960"/>
          </a:xfrm>
          <a:prstGeom prst="rect">
            <a:avLst/>
          </a:prstGeom>
          <a:noFill/>
          <a:ln/>
        </p:spPr>
        <p:txBody>
          <a:bodyPr wrap="square" rtlCol="0" anchor="ctr"/>
          <a:lstStyle/>
          <a:p>
            <a:pPr algn="r" rtl="1"/>
            <a:r>
              <a:rPr lang="en-US" sz="1200" dirty="0">
                <a:solidFill>
                  <a:srgbClr val="8892A4"/>
                </a:solidFill>
                <a:latin typeface="Calibri" pitchFamily="34" charset="0"/>
                <a:ea typeface="Calibri" pitchFamily="34" charset="-122"/>
                <a:cs typeface="Calibri" pitchFamily="34" charset="-120"/>
              </a:rPr>
              <a:t>7 Bugs documented, 30 blocked test cases recorded, with a comprehensive coverage report delivered.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E1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09728" y="73152"/>
            <a:ext cx="658368" cy="658368"/>
          </a:xfrm>
          <a:prstGeom prst="ellipse">
            <a:avLst/>
          </a:prstGeom>
        </p:spPr>
      </p:pic>
      <p:pic>
        <p:nvPicPr>
          <p:cNvPr id="3" name="Image 1" descr="preencoded.png"/>
          <p:cNvPicPr>
            <a:picLocks noChangeAspect="1"/>
          </p:cNvPicPr>
          <p:nvPr/>
        </p:nvPicPr>
        <p:blipFill>
          <a:blip r:embed="rId4"/>
          <a:stretch>
            <a:fillRect/>
          </a:stretch>
        </p:blipFill>
        <p:spPr>
          <a:xfrm>
            <a:off x="8375904" y="73152"/>
            <a:ext cx="658368" cy="658368"/>
          </a:xfrm>
          <a:prstGeom prst="rect">
            <a:avLst/>
          </a:prstGeom>
        </p:spPr>
      </p:pic>
      <p:sp>
        <p:nvSpPr>
          <p:cNvPr id="4" name="Shape 0"/>
          <p:cNvSpPr/>
          <p:nvPr/>
        </p:nvSpPr>
        <p:spPr>
          <a:xfrm>
            <a:off x="0" y="0"/>
            <a:ext cx="9144000" cy="54864"/>
          </a:xfrm>
          <a:prstGeom prst="rect">
            <a:avLst/>
          </a:prstGeom>
          <a:solidFill>
            <a:srgbClr val="4FC3F7"/>
          </a:solidFill>
          <a:ln w="12700">
            <a:solidFill>
              <a:srgbClr val="4FC3F7"/>
            </a:solidFill>
            <a:prstDash val="solid"/>
          </a:ln>
        </p:spPr>
        <p:txBody>
          <a:bodyPr/>
          <a:lstStyle/>
          <a:p>
            <a:endParaRPr lang="en-US"/>
          </a:p>
        </p:txBody>
      </p:sp>
      <p:sp>
        <p:nvSpPr>
          <p:cNvPr id="5" name="Text 1"/>
          <p:cNvSpPr/>
          <p:nvPr/>
        </p:nvSpPr>
        <p:spPr>
          <a:xfrm>
            <a:off x="945930" y="274320"/>
            <a:ext cx="7649429" cy="640080"/>
          </a:xfrm>
          <a:prstGeom prst="rect">
            <a:avLst/>
          </a:prstGeom>
          <a:noFill/>
          <a:ln/>
        </p:spPr>
        <p:txBody>
          <a:bodyPr wrap="square" rtlCol="0" anchor="ctr"/>
          <a:lstStyle/>
          <a:p>
            <a:pPr marL="0" indent="0">
              <a:buNone/>
            </a:pPr>
            <a:r>
              <a:rPr lang="en-US" sz="3400" b="1" dirty="0">
                <a:solidFill>
                  <a:srgbClr val="F1F5FB"/>
                </a:solidFill>
                <a:latin typeface="Calibri" pitchFamily="34" charset="0"/>
                <a:ea typeface="Calibri" pitchFamily="34" charset="-122"/>
                <a:cs typeface="Calibri" pitchFamily="34" charset="-120"/>
              </a:rPr>
              <a:t>Demo &amp;</a:t>
            </a:r>
            <a:endParaRPr lang="en-US" sz="3400" dirty="0"/>
          </a:p>
        </p:txBody>
      </p:sp>
      <p:sp>
        <p:nvSpPr>
          <p:cNvPr id="6" name="Text 2"/>
          <p:cNvSpPr/>
          <p:nvPr/>
        </p:nvSpPr>
        <p:spPr>
          <a:xfrm>
            <a:off x="365760" y="868680"/>
            <a:ext cx="8229600" cy="640080"/>
          </a:xfrm>
          <a:prstGeom prst="rect">
            <a:avLst/>
          </a:prstGeom>
          <a:noFill/>
          <a:ln/>
        </p:spPr>
        <p:txBody>
          <a:bodyPr wrap="square" rtlCol="0" anchor="ctr"/>
          <a:lstStyle/>
          <a:p>
            <a:pPr marL="0" indent="0">
              <a:buNone/>
            </a:pPr>
            <a:r>
              <a:rPr lang="en-US" sz="3400" b="1" dirty="0">
                <a:solidFill>
                  <a:srgbClr val="4FC3F7"/>
                </a:solidFill>
                <a:latin typeface="Calibri" pitchFamily="34" charset="0"/>
                <a:ea typeface="Calibri" pitchFamily="34" charset="-122"/>
                <a:cs typeface="Calibri" pitchFamily="34" charset="-120"/>
              </a:rPr>
              <a:t>Screenshots</a:t>
            </a:r>
            <a:endParaRPr lang="en-US" sz="3400" dirty="0"/>
          </a:p>
        </p:txBody>
      </p:sp>
      <p:sp>
        <p:nvSpPr>
          <p:cNvPr id="7" name="Shape 3"/>
          <p:cNvSpPr/>
          <p:nvPr/>
        </p:nvSpPr>
        <p:spPr>
          <a:xfrm>
            <a:off x="365760" y="1691640"/>
            <a:ext cx="4114800" cy="2560320"/>
          </a:xfrm>
          <a:prstGeom prst="roundRect">
            <a:avLst>
              <a:gd name="adj" fmla="val 3571"/>
            </a:avLst>
          </a:prstGeom>
          <a:blipFill dpi="0" rotWithShape="1">
            <a:blip r:embed="rId5">
              <a:extLst>
                <a:ext uri="{28A0092B-C50C-407E-A947-70E740481C1C}">
                  <a14:useLocalDpi xmlns:a14="http://schemas.microsoft.com/office/drawing/2010/main" val="0"/>
                </a:ext>
              </a:extLst>
            </a:blip>
            <a:srcRect/>
            <a:stretch>
              <a:fillRect/>
            </a:stretch>
          </a:blipFill>
          <a:ln w="12700">
            <a:solidFill>
              <a:srgbClr val="1E2D4A"/>
            </a:solidFill>
            <a:prstDash val="solid"/>
          </a:ln>
        </p:spPr>
        <p:txBody>
          <a:bodyPr/>
          <a:lstStyle/>
          <a:p>
            <a:endParaRPr lang="en-US"/>
          </a:p>
        </p:txBody>
      </p:sp>
      <p:sp>
        <p:nvSpPr>
          <p:cNvPr id="8" name="Text 4"/>
          <p:cNvSpPr/>
          <p:nvPr/>
        </p:nvSpPr>
        <p:spPr>
          <a:xfrm>
            <a:off x="365760" y="1691640"/>
            <a:ext cx="4114800" cy="2560320"/>
          </a:xfrm>
          <a:prstGeom prst="rect">
            <a:avLst/>
          </a:prstGeom>
          <a:noFill/>
          <a:ln/>
        </p:spPr>
        <p:txBody>
          <a:bodyPr wrap="square" rtlCol="0" anchor="ctr"/>
          <a:lstStyle/>
          <a:p>
            <a:pPr marL="0" indent="0" algn="ctr">
              <a:buNone/>
            </a:pPr>
            <a:endParaRPr lang="en-US" sz="1200" dirty="0"/>
          </a:p>
        </p:txBody>
      </p:sp>
      <p:sp>
        <p:nvSpPr>
          <p:cNvPr id="9" name="Shape 5"/>
          <p:cNvSpPr/>
          <p:nvPr/>
        </p:nvSpPr>
        <p:spPr>
          <a:xfrm>
            <a:off x="4663440" y="1691640"/>
            <a:ext cx="4114800" cy="1143000"/>
          </a:xfrm>
          <a:prstGeom prst="roundRect">
            <a:avLst>
              <a:gd name="adj" fmla="val 8000"/>
            </a:avLst>
          </a:prstGeom>
          <a:blipFill dpi="0" rotWithShape="1">
            <a:blip r:embed="rId6">
              <a:extLst>
                <a:ext uri="{28A0092B-C50C-407E-A947-70E740481C1C}">
                  <a14:useLocalDpi xmlns:a14="http://schemas.microsoft.com/office/drawing/2010/main" val="0"/>
                </a:ext>
              </a:extLst>
            </a:blip>
            <a:srcRect/>
            <a:stretch>
              <a:fillRect/>
            </a:stretch>
          </a:blipFill>
          <a:ln w="12700">
            <a:solidFill>
              <a:srgbClr val="1E2D4A"/>
            </a:solidFill>
            <a:prstDash val="solid"/>
          </a:ln>
        </p:spPr>
        <p:txBody>
          <a:bodyPr/>
          <a:lstStyle/>
          <a:p>
            <a:endParaRPr lang="en-US"/>
          </a:p>
        </p:txBody>
      </p:sp>
      <p:sp>
        <p:nvSpPr>
          <p:cNvPr id="10" name="Text 6"/>
          <p:cNvSpPr/>
          <p:nvPr/>
        </p:nvSpPr>
        <p:spPr>
          <a:xfrm>
            <a:off x="4663440" y="1691640"/>
            <a:ext cx="4114800" cy="1143000"/>
          </a:xfrm>
          <a:prstGeom prst="rect">
            <a:avLst/>
          </a:prstGeom>
          <a:noFill/>
          <a:ln/>
        </p:spPr>
        <p:txBody>
          <a:bodyPr wrap="square" rtlCol="0" anchor="ctr"/>
          <a:lstStyle/>
          <a:p>
            <a:pPr marL="0" indent="0" algn="ctr">
              <a:buNone/>
            </a:pPr>
            <a:endParaRPr lang="en-US" sz="1200" dirty="0"/>
          </a:p>
        </p:txBody>
      </p:sp>
      <p:sp>
        <p:nvSpPr>
          <p:cNvPr id="11" name="Shape 7"/>
          <p:cNvSpPr/>
          <p:nvPr/>
        </p:nvSpPr>
        <p:spPr>
          <a:xfrm>
            <a:off x="4663440" y="3017520"/>
            <a:ext cx="4114800" cy="1234440"/>
          </a:xfrm>
          <a:prstGeom prst="roundRect">
            <a:avLst>
              <a:gd name="adj" fmla="val 7407"/>
            </a:avLst>
          </a:prstGeom>
          <a:blipFill dpi="0" rotWithShape="1">
            <a:blip r:embed="rId7">
              <a:extLst>
                <a:ext uri="{28A0092B-C50C-407E-A947-70E740481C1C}">
                  <a14:useLocalDpi xmlns:a14="http://schemas.microsoft.com/office/drawing/2010/main" val="0"/>
                </a:ext>
              </a:extLst>
            </a:blip>
            <a:srcRect/>
            <a:stretch>
              <a:fillRect/>
            </a:stretch>
          </a:blipFill>
          <a:ln w="12700">
            <a:solidFill>
              <a:srgbClr val="1E2D4A"/>
            </a:solidFill>
            <a:prstDash val="solid"/>
          </a:ln>
        </p:spPr>
        <p:txBody>
          <a:bodyPr/>
          <a:lstStyle/>
          <a:p>
            <a:endParaRPr lang="en-US"/>
          </a:p>
        </p:txBody>
      </p:sp>
      <p:sp>
        <p:nvSpPr>
          <p:cNvPr id="12" name="Text 8"/>
          <p:cNvSpPr/>
          <p:nvPr/>
        </p:nvSpPr>
        <p:spPr>
          <a:xfrm>
            <a:off x="4663440" y="3017520"/>
            <a:ext cx="4114800" cy="1234440"/>
          </a:xfrm>
          <a:prstGeom prst="rect">
            <a:avLst/>
          </a:prstGeom>
          <a:noFill/>
          <a:ln/>
        </p:spPr>
        <p:txBody>
          <a:bodyPr wrap="square" rtlCol="0" anchor="ctr"/>
          <a:lstStyle/>
          <a:p>
            <a:pPr marL="0" indent="0" algn="ctr">
              <a:buNone/>
            </a:pPr>
            <a:endParaRPr lang="en-US" sz="1200" dirty="0"/>
          </a:p>
        </p:txBody>
      </p:sp>
      <p:sp>
        <p:nvSpPr>
          <p:cNvPr id="13" name="Text 9"/>
          <p:cNvSpPr/>
          <p:nvPr/>
        </p:nvSpPr>
        <p:spPr>
          <a:xfrm>
            <a:off x="365760" y="4389120"/>
            <a:ext cx="8412480" cy="365760"/>
          </a:xfrm>
          <a:prstGeom prst="rect">
            <a:avLst/>
          </a:prstGeom>
          <a:noFill/>
          <a:ln/>
        </p:spPr>
        <p:txBody>
          <a:bodyPr wrap="square" rtlCol="0" anchor="ctr"/>
          <a:lstStyle/>
          <a:p>
            <a:pPr marL="0" indent="0" algn="ctr">
              <a:buNone/>
            </a:pP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E1A"/>
        </a:solidFill>
        <a:effectLst/>
      </p:bgPr>
    </p:bg>
    <p:spTree>
      <p:nvGrpSpPr>
        <p:cNvPr id="1" name=""/>
        <p:cNvGrpSpPr/>
        <p:nvPr/>
      </p:nvGrpSpPr>
      <p:grpSpPr>
        <a:xfrm>
          <a:off x="0" y="0"/>
          <a:ext cx="0" cy="0"/>
          <a:chOff x="0" y="0"/>
          <a:chExt cx="0" cy="0"/>
        </a:xfrm>
      </p:grpSpPr>
      <p:sp>
        <p:nvSpPr>
          <p:cNvPr id="4" name="Shape 0"/>
          <p:cNvSpPr/>
          <p:nvPr/>
        </p:nvSpPr>
        <p:spPr>
          <a:xfrm>
            <a:off x="1360714" y="0"/>
            <a:ext cx="7783286" cy="1005840"/>
          </a:xfrm>
          <a:prstGeom prst="rect">
            <a:avLst/>
          </a:prstGeom>
          <a:solidFill>
            <a:srgbClr val="141B2D"/>
          </a:solidFill>
          <a:ln w="12700">
            <a:solidFill>
              <a:srgbClr val="1E2D4A"/>
            </a:solidFill>
            <a:prstDash val="solid"/>
          </a:ln>
        </p:spPr>
        <p:txBody>
          <a:bodyPr/>
          <a:lstStyle/>
          <a:p>
            <a:endParaRPr lang="en-US"/>
          </a:p>
        </p:txBody>
      </p:sp>
      <p:pic>
        <p:nvPicPr>
          <p:cNvPr id="2" name="Image 0" descr="preencoded.png"/>
          <p:cNvPicPr>
            <a:picLocks noChangeAspect="1"/>
          </p:cNvPicPr>
          <p:nvPr/>
        </p:nvPicPr>
        <p:blipFill>
          <a:blip r:embed="rId3"/>
          <a:stretch>
            <a:fillRect/>
          </a:stretch>
        </p:blipFill>
        <p:spPr>
          <a:xfrm>
            <a:off x="109728" y="73152"/>
            <a:ext cx="658368" cy="658368"/>
          </a:xfrm>
          <a:prstGeom prst="ellipse">
            <a:avLst/>
          </a:prstGeom>
        </p:spPr>
      </p:pic>
      <p:pic>
        <p:nvPicPr>
          <p:cNvPr id="3" name="Image 1" descr="preencoded.png"/>
          <p:cNvPicPr>
            <a:picLocks noChangeAspect="1"/>
          </p:cNvPicPr>
          <p:nvPr/>
        </p:nvPicPr>
        <p:blipFill>
          <a:blip r:embed="rId4"/>
          <a:stretch>
            <a:fillRect/>
          </a:stretch>
        </p:blipFill>
        <p:spPr>
          <a:xfrm>
            <a:off x="8375904" y="73152"/>
            <a:ext cx="658368" cy="658368"/>
          </a:xfrm>
          <a:prstGeom prst="rect">
            <a:avLst/>
          </a:prstGeom>
        </p:spPr>
      </p:pic>
      <p:sp>
        <p:nvSpPr>
          <p:cNvPr id="5" name="Shape 1"/>
          <p:cNvSpPr/>
          <p:nvPr/>
        </p:nvSpPr>
        <p:spPr>
          <a:xfrm>
            <a:off x="0" y="0"/>
            <a:ext cx="9144000" cy="54864"/>
          </a:xfrm>
          <a:prstGeom prst="rect">
            <a:avLst/>
          </a:prstGeom>
          <a:solidFill>
            <a:srgbClr val="00E676"/>
          </a:solidFill>
          <a:ln w="12700">
            <a:solidFill>
              <a:srgbClr val="00E676"/>
            </a:solidFill>
            <a:prstDash val="solid"/>
          </a:ln>
        </p:spPr>
        <p:txBody>
          <a:bodyPr/>
          <a:lstStyle/>
          <a:p>
            <a:endParaRPr lang="en-US"/>
          </a:p>
        </p:txBody>
      </p:sp>
      <p:sp>
        <p:nvSpPr>
          <p:cNvPr id="6" name="Text 2"/>
          <p:cNvSpPr/>
          <p:nvPr/>
        </p:nvSpPr>
        <p:spPr>
          <a:xfrm>
            <a:off x="1556656" y="137160"/>
            <a:ext cx="7038703" cy="548640"/>
          </a:xfrm>
          <a:prstGeom prst="rect">
            <a:avLst/>
          </a:prstGeom>
          <a:noFill/>
          <a:ln/>
        </p:spPr>
        <p:txBody>
          <a:bodyPr wrap="square" rtlCol="0" anchor="ctr"/>
          <a:lstStyle/>
          <a:p>
            <a:pPr marL="0" indent="0">
              <a:buNone/>
            </a:pPr>
            <a:r>
              <a:rPr lang="en-US" sz="2600" b="1" dirty="0">
                <a:solidFill>
                  <a:srgbClr val="F1F5FB"/>
                </a:solidFill>
                <a:latin typeface="Calibri" pitchFamily="34" charset="0"/>
                <a:ea typeface="Calibri" pitchFamily="34" charset="-122"/>
                <a:cs typeface="Calibri" pitchFamily="34" charset="-120"/>
              </a:rPr>
              <a:t>QA Results Dashboard</a:t>
            </a:r>
            <a:endParaRPr lang="en-US" sz="2600" dirty="0"/>
          </a:p>
        </p:txBody>
      </p:sp>
      <p:sp>
        <p:nvSpPr>
          <p:cNvPr id="7" name="Text 3"/>
          <p:cNvSpPr/>
          <p:nvPr/>
        </p:nvSpPr>
        <p:spPr>
          <a:xfrm>
            <a:off x="1360714" y="621792"/>
            <a:ext cx="3577046" cy="274320"/>
          </a:xfrm>
          <a:prstGeom prst="rect">
            <a:avLst/>
          </a:prstGeom>
          <a:noFill/>
          <a:ln/>
        </p:spPr>
        <p:txBody>
          <a:bodyPr wrap="square" rtlCol="0" anchor="ctr"/>
          <a:lstStyle/>
          <a:p>
            <a:pPr marL="0" indent="0">
              <a:buNone/>
            </a:pPr>
            <a:r>
              <a:rPr lang="en-US" sz="1100" dirty="0">
                <a:solidFill>
                  <a:srgbClr val="8892A4"/>
                </a:solidFill>
                <a:latin typeface="Calibri" pitchFamily="34" charset="0"/>
                <a:ea typeface="Calibri" pitchFamily="34" charset="-122"/>
                <a:cs typeface="Calibri" pitchFamily="34" charset="-120"/>
              </a:rPr>
              <a:t>Testing Team — Final Metrics</a:t>
            </a:r>
            <a:endParaRPr lang="en-US" sz="1100" dirty="0"/>
          </a:p>
        </p:txBody>
      </p:sp>
      <p:sp>
        <p:nvSpPr>
          <p:cNvPr id="8" name="Shape 4"/>
          <p:cNvSpPr/>
          <p:nvPr/>
        </p:nvSpPr>
        <p:spPr>
          <a:xfrm>
            <a:off x="274320" y="1143000"/>
            <a:ext cx="1965960" cy="1371600"/>
          </a:xfrm>
          <a:prstGeom prst="roundRect">
            <a:avLst>
              <a:gd name="adj" fmla="val 6667"/>
            </a:avLst>
          </a:prstGeom>
          <a:solidFill>
            <a:srgbClr val="1A2340"/>
          </a:solidFill>
          <a:ln w="19050">
            <a:solidFill>
              <a:srgbClr val="6C63FF"/>
            </a:solidFill>
            <a:prstDash val="solid"/>
          </a:ln>
        </p:spPr>
        <p:txBody>
          <a:bodyPr/>
          <a:lstStyle/>
          <a:p>
            <a:endParaRPr lang="en-US"/>
          </a:p>
        </p:txBody>
      </p:sp>
      <p:sp>
        <p:nvSpPr>
          <p:cNvPr id="9" name="Text 5"/>
          <p:cNvSpPr/>
          <p:nvPr/>
        </p:nvSpPr>
        <p:spPr>
          <a:xfrm>
            <a:off x="274320" y="1234440"/>
            <a:ext cx="1965960" cy="777240"/>
          </a:xfrm>
          <a:prstGeom prst="rect">
            <a:avLst/>
          </a:prstGeom>
          <a:noFill/>
          <a:ln/>
        </p:spPr>
        <p:txBody>
          <a:bodyPr wrap="square" rtlCol="0" anchor="ctr"/>
          <a:lstStyle/>
          <a:p>
            <a:pPr marL="0" indent="0" algn="ctr">
              <a:buNone/>
            </a:pPr>
            <a:r>
              <a:rPr lang="en-US" sz="4000" b="1" dirty="0">
                <a:solidFill>
                  <a:srgbClr val="6C63FF"/>
                </a:solidFill>
                <a:latin typeface="Calibri" pitchFamily="34" charset="0"/>
                <a:ea typeface="Calibri" pitchFamily="34" charset="-122"/>
                <a:cs typeface="Calibri" pitchFamily="34" charset="-120"/>
              </a:rPr>
              <a:t>215</a:t>
            </a:r>
            <a:endParaRPr lang="en-US" sz="4000" dirty="0"/>
          </a:p>
        </p:txBody>
      </p:sp>
      <p:sp>
        <p:nvSpPr>
          <p:cNvPr id="10" name="Text 6"/>
          <p:cNvSpPr/>
          <p:nvPr/>
        </p:nvSpPr>
        <p:spPr>
          <a:xfrm>
            <a:off x="274320" y="1965960"/>
            <a:ext cx="1965960" cy="411480"/>
          </a:xfrm>
          <a:prstGeom prst="rect">
            <a:avLst/>
          </a:prstGeom>
          <a:noFill/>
          <a:ln/>
        </p:spPr>
        <p:txBody>
          <a:bodyPr wrap="square" rtlCol="0" anchor="ctr"/>
          <a:lstStyle/>
          <a:p>
            <a:pPr marL="0" indent="0" algn="ctr">
              <a:buNone/>
            </a:pPr>
            <a:r>
              <a:rPr lang="en-US" sz="1000" dirty="0">
                <a:solidFill>
                  <a:srgbClr val="8892A4"/>
                </a:solidFill>
                <a:latin typeface="Calibri" pitchFamily="34" charset="0"/>
                <a:ea typeface="Calibri" pitchFamily="34" charset="-122"/>
                <a:cs typeface="Calibri" pitchFamily="34" charset="-120"/>
              </a:rPr>
              <a:t>Total Test Cases</a:t>
            </a:r>
            <a:endParaRPr lang="en-US" sz="1000" dirty="0"/>
          </a:p>
        </p:txBody>
      </p:sp>
      <p:sp>
        <p:nvSpPr>
          <p:cNvPr id="11" name="Shape 7"/>
          <p:cNvSpPr/>
          <p:nvPr/>
        </p:nvSpPr>
        <p:spPr>
          <a:xfrm>
            <a:off x="2423160" y="1143000"/>
            <a:ext cx="1965960" cy="1371600"/>
          </a:xfrm>
          <a:prstGeom prst="roundRect">
            <a:avLst>
              <a:gd name="adj" fmla="val 6667"/>
            </a:avLst>
          </a:prstGeom>
          <a:solidFill>
            <a:srgbClr val="1A2340"/>
          </a:solidFill>
          <a:ln w="19050">
            <a:solidFill>
              <a:srgbClr val="00E676"/>
            </a:solidFill>
            <a:prstDash val="solid"/>
          </a:ln>
        </p:spPr>
        <p:txBody>
          <a:bodyPr/>
          <a:lstStyle/>
          <a:p>
            <a:endParaRPr lang="en-US"/>
          </a:p>
        </p:txBody>
      </p:sp>
      <p:sp>
        <p:nvSpPr>
          <p:cNvPr id="12" name="Text 8"/>
          <p:cNvSpPr/>
          <p:nvPr/>
        </p:nvSpPr>
        <p:spPr>
          <a:xfrm>
            <a:off x="2423160" y="1234440"/>
            <a:ext cx="1965960" cy="777240"/>
          </a:xfrm>
          <a:prstGeom prst="rect">
            <a:avLst/>
          </a:prstGeom>
          <a:noFill/>
          <a:ln/>
        </p:spPr>
        <p:txBody>
          <a:bodyPr wrap="square" rtlCol="0" anchor="ctr"/>
          <a:lstStyle/>
          <a:p>
            <a:pPr marL="0" indent="0" algn="ctr">
              <a:buNone/>
            </a:pPr>
            <a:r>
              <a:rPr lang="en-US" sz="4000" b="1" dirty="0">
                <a:solidFill>
                  <a:srgbClr val="00E676"/>
                </a:solidFill>
                <a:latin typeface="Calibri" pitchFamily="34" charset="0"/>
                <a:ea typeface="Calibri" pitchFamily="34" charset="-122"/>
                <a:cs typeface="Calibri" pitchFamily="34" charset="-120"/>
              </a:rPr>
              <a:t>178</a:t>
            </a:r>
            <a:endParaRPr lang="en-US" sz="4000" dirty="0"/>
          </a:p>
        </p:txBody>
      </p:sp>
      <p:sp>
        <p:nvSpPr>
          <p:cNvPr id="13" name="Text 9"/>
          <p:cNvSpPr/>
          <p:nvPr/>
        </p:nvSpPr>
        <p:spPr>
          <a:xfrm>
            <a:off x="2423160" y="1965960"/>
            <a:ext cx="1965960" cy="411480"/>
          </a:xfrm>
          <a:prstGeom prst="rect">
            <a:avLst/>
          </a:prstGeom>
          <a:noFill/>
          <a:ln/>
        </p:spPr>
        <p:txBody>
          <a:bodyPr wrap="square" rtlCol="0" anchor="ctr"/>
          <a:lstStyle/>
          <a:p>
            <a:pPr marL="0" indent="0" algn="ctr">
              <a:buNone/>
            </a:pPr>
            <a:r>
              <a:rPr lang="en-US" sz="1000" dirty="0">
                <a:solidFill>
                  <a:srgbClr val="8892A4"/>
                </a:solidFill>
                <a:latin typeface="Calibri" pitchFamily="34" charset="0"/>
                <a:ea typeface="Calibri" pitchFamily="34" charset="-122"/>
                <a:cs typeface="Calibri" pitchFamily="34" charset="-120"/>
              </a:rPr>
              <a:t>Passed</a:t>
            </a:r>
            <a:endParaRPr lang="en-US" sz="1000" dirty="0"/>
          </a:p>
        </p:txBody>
      </p:sp>
      <p:sp>
        <p:nvSpPr>
          <p:cNvPr id="14" name="Shape 10"/>
          <p:cNvSpPr/>
          <p:nvPr/>
        </p:nvSpPr>
        <p:spPr>
          <a:xfrm>
            <a:off x="4572000" y="1143000"/>
            <a:ext cx="1965960" cy="1371600"/>
          </a:xfrm>
          <a:prstGeom prst="roundRect">
            <a:avLst>
              <a:gd name="adj" fmla="val 6667"/>
            </a:avLst>
          </a:prstGeom>
          <a:solidFill>
            <a:srgbClr val="1A2340"/>
          </a:solidFill>
          <a:ln w="19050">
            <a:solidFill>
              <a:srgbClr val="FF5252"/>
            </a:solidFill>
            <a:prstDash val="solid"/>
          </a:ln>
        </p:spPr>
        <p:txBody>
          <a:bodyPr/>
          <a:lstStyle/>
          <a:p>
            <a:endParaRPr lang="en-US"/>
          </a:p>
        </p:txBody>
      </p:sp>
      <p:sp>
        <p:nvSpPr>
          <p:cNvPr id="15" name="Text 11"/>
          <p:cNvSpPr/>
          <p:nvPr/>
        </p:nvSpPr>
        <p:spPr>
          <a:xfrm>
            <a:off x="4572000" y="1234440"/>
            <a:ext cx="1965960" cy="777240"/>
          </a:xfrm>
          <a:prstGeom prst="rect">
            <a:avLst/>
          </a:prstGeom>
          <a:noFill/>
          <a:ln/>
        </p:spPr>
        <p:txBody>
          <a:bodyPr wrap="square" rtlCol="0" anchor="ctr"/>
          <a:lstStyle/>
          <a:p>
            <a:pPr marL="0" indent="0" algn="ctr">
              <a:buNone/>
            </a:pPr>
            <a:r>
              <a:rPr lang="en-US" sz="4000" b="1" dirty="0">
                <a:solidFill>
                  <a:srgbClr val="FF5252"/>
                </a:solidFill>
                <a:latin typeface="Calibri" pitchFamily="34" charset="0"/>
                <a:ea typeface="Calibri" pitchFamily="34" charset="-122"/>
                <a:cs typeface="Calibri" pitchFamily="34" charset="-120"/>
              </a:rPr>
              <a:t>7</a:t>
            </a:r>
            <a:endParaRPr lang="en-US" sz="4000" dirty="0"/>
          </a:p>
        </p:txBody>
      </p:sp>
      <p:sp>
        <p:nvSpPr>
          <p:cNvPr id="16" name="Text 12"/>
          <p:cNvSpPr/>
          <p:nvPr/>
        </p:nvSpPr>
        <p:spPr>
          <a:xfrm>
            <a:off x="4572000" y="1965960"/>
            <a:ext cx="1965960" cy="411480"/>
          </a:xfrm>
          <a:prstGeom prst="rect">
            <a:avLst/>
          </a:prstGeom>
          <a:noFill/>
          <a:ln/>
        </p:spPr>
        <p:txBody>
          <a:bodyPr wrap="square" rtlCol="0" anchor="ctr"/>
          <a:lstStyle/>
          <a:p>
            <a:pPr marL="0" indent="0" algn="ctr">
              <a:buNone/>
            </a:pPr>
            <a:r>
              <a:rPr lang="en-US" sz="1000" dirty="0">
                <a:solidFill>
                  <a:srgbClr val="8892A4"/>
                </a:solidFill>
                <a:latin typeface="Calibri" pitchFamily="34" charset="0"/>
                <a:ea typeface="Calibri" pitchFamily="34" charset="-122"/>
                <a:cs typeface="Calibri" pitchFamily="34" charset="-120"/>
              </a:rPr>
              <a:t>Failed</a:t>
            </a:r>
            <a:endParaRPr lang="en-US" sz="1000" dirty="0"/>
          </a:p>
        </p:txBody>
      </p:sp>
      <p:sp>
        <p:nvSpPr>
          <p:cNvPr id="17" name="Shape 13"/>
          <p:cNvSpPr/>
          <p:nvPr/>
        </p:nvSpPr>
        <p:spPr>
          <a:xfrm>
            <a:off x="6720840" y="1143000"/>
            <a:ext cx="1965960" cy="1371600"/>
          </a:xfrm>
          <a:prstGeom prst="roundRect">
            <a:avLst>
              <a:gd name="adj" fmla="val 6667"/>
            </a:avLst>
          </a:prstGeom>
          <a:solidFill>
            <a:srgbClr val="1A2340"/>
          </a:solidFill>
          <a:ln w="19050">
            <a:solidFill>
              <a:srgbClr val="FFB300"/>
            </a:solidFill>
            <a:prstDash val="solid"/>
          </a:ln>
        </p:spPr>
        <p:txBody>
          <a:bodyPr/>
          <a:lstStyle/>
          <a:p>
            <a:endParaRPr lang="en-US"/>
          </a:p>
        </p:txBody>
      </p:sp>
      <p:sp>
        <p:nvSpPr>
          <p:cNvPr id="18" name="Text 14"/>
          <p:cNvSpPr/>
          <p:nvPr/>
        </p:nvSpPr>
        <p:spPr>
          <a:xfrm>
            <a:off x="6720840" y="1234440"/>
            <a:ext cx="1965960" cy="777240"/>
          </a:xfrm>
          <a:prstGeom prst="rect">
            <a:avLst/>
          </a:prstGeom>
          <a:noFill/>
          <a:ln/>
        </p:spPr>
        <p:txBody>
          <a:bodyPr wrap="square" rtlCol="0" anchor="ctr"/>
          <a:lstStyle/>
          <a:p>
            <a:pPr marL="0" indent="0" algn="ctr">
              <a:buNone/>
            </a:pPr>
            <a:r>
              <a:rPr lang="en-US" sz="4000" b="1" dirty="0">
                <a:solidFill>
                  <a:srgbClr val="FFB300"/>
                </a:solidFill>
                <a:latin typeface="Calibri" pitchFamily="34" charset="0"/>
                <a:ea typeface="Calibri" pitchFamily="34" charset="-122"/>
                <a:cs typeface="Calibri" pitchFamily="34" charset="-120"/>
              </a:rPr>
              <a:t>30</a:t>
            </a:r>
            <a:endParaRPr lang="en-US" sz="4000" dirty="0"/>
          </a:p>
        </p:txBody>
      </p:sp>
      <p:sp>
        <p:nvSpPr>
          <p:cNvPr id="19" name="Text 15"/>
          <p:cNvSpPr/>
          <p:nvPr/>
        </p:nvSpPr>
        <p:spPr>
          <a:xfrm>
            <a:off x="6720840" y="1965960"/>
            <a:ext cx="1965960" cy="411480"/>
          </a:xfrm>
          <a:prstGeom prst="rect">
            <a:avLst/>
          </a:prstGeom>
          <a:noFill/>
          <a:ln/>
        </p:spPr>
        <p:txBody>
          <a:bodyPr wrap="square" rtlCol="0" anchor="ctr"/>
          <a:lstStyle/>
          <a:p>
            <a:pPr algn="ctr"/>
            <a:r>
              <a:rPr lang="en-US" sz="1000" dirty="0">
                <a:solidFill>
                  <a:srgbClr val="8892A4"/>
                </a:solidFill>
                <a:latin typeface="Calibri" pitchFamily="34" charset="0"/>
                <a:ea typeface="Calibri" pitchFamily="34" charset="-122"/>
                <a:cs typeface="Calibri" pitchFamily="34" charset="-120"/>
              </a:rPr>
              <a:t>Blocked</a:t>
            </a:r>
          </a:p>
        </p:txBody>
      </p:sp>
      <p:graphicFrame>
        <p:nvGraphicFramePr>
          <p:cNvPr id="20" name="Chart 0"/>
          <p:cNvGraphicFramePr/>
          <p:nvPr>
            <p:extLst>
              <p:ext uri="{D42A27DB-BD31-4B8C-83A1-F6EECF244321}">
                <p14:modId xmlns:p14="http://schemas.microsoft.com/office/powerpoint/2010/main" val="2225358668"/>
              </p:ext>
            </p:extLst>
          </p:nvPr>
        </p:nvGraphicFramePr>
        <p:xfrm>
          <a:off x="274320" y="2651760"/>
          <a:ext cx="5303520" cy="219456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21" name="Chart 1"/>
          <p:cNvGraphicFramePr/>
          <p:nvPr>
            <p:extLst>
              <p:ext uri="{D42A27DB-BD31-4B8C-83A1-F6EECF244321}">
                <p14:modId xmlns:p14="http://schemas.microsoft.com/office/powerpoint/2010/main" val="2220401922"/>
              </p:ext>
            </p:extLst>
          </p:nvPr>
        </p:nvGraphicFramePr>
        <p:xfrm>
          <a:off x="5669280" y="2651760"/>
          <a:ext cx="3291840" cy="2194560"/>
        </p:xfrm>
        <a:graphic>
          <a:graphicData uri="http://schemas.openxmlformats.org/drawingml/2006/chart">
            <c:chart xmlns:c="http://schemas.openxmlformats.org/drawingml/2006/chart" xmlns:r="http://schemas.openxmlformats.org/officeDocument/2006/relationships" r:id="rId6"/>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E1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09728" y="73152"/>
            <a:ext cx="658368" cy="658368"/>
          </a:xfrm>
          <a:prstGeom prst="ellipse">
            <a:avLst/>
          </a:prstGeom>
        </p:spPr>
      </p:pic>
      <p:pic>
        <p:nvPicPr>
          <p:cNvPr id="3" name="Image 1" descr="preencoded.png"/>
          <p:cNvPicPr>
            <a:picLocks noChangeAspect="1"/>
          </p:cNvPicPr>
          <p:nvPr/>
        </p:nvPicPr>
        <p:blipFill>
          <a:blip r:embed="rId4"/>
          <a:stretch>
            <a:fillRect/>
          </a:stretch>
        </p:blipFill>
        <p:spPr>
          <a:xfrm>
            <a:off x="8375904" y="73152"/>
            <a:ext cx="658368" cy="658368"/>
          </a:xfrm>
          <a:prstGeom prst="rect">
            <a:avLst/>
          </a:prstGeom>
        </p:spPr>
      </p:pic>
      <p:sp>
        <p:nvSpPr>
          <p:cNvPr id="4" name="Shape 0"/>
          <p:cNvSpPr/>
          <p:nvPr/>
        </p:nvSpPr>
        <p:spPr>
          <a:xfrm>
            <a:off x="6858000" y="2286000"/>
            <a:ext cx="3657600" cy="3657600"/>
          </a:xfrm>
          <a:prstGeom prst="ellipse">
            <a:avLst/>
          </a:prstGeom>
          <a:solidFill>
            <a:srgbClr val="6C63FF">
              <a:alpha val="8000"/>
            </a:srgbClr>
          </a:solidFill>
          <a:ln w="12700">
            <a:solidFill>
              <a:srgbClr val="6C63FF"/>
            </a:solidFill>
            <a:prstDash val="solid"/>
          </a:ln>
        </p:spPr>
        <p:txBody>
          <a:bodyPr/>
          <a:lstStyle/>
          <a:p>
            <a:endParaRPr lang="en-US"/>
          </a:p>
        </p:txBody>
      </p:sp>
      <p:sp>
        <p:nvSpPr>
          <p:cNvPr id="5" name="Shape 1"/>
          <p:cNvSpPr/>
          <p:nvPr/>
        </p:nvSpPr>
        <p:spPr>
          <a:xfrm>
            <a:off x="-1371600" y="-914400"/>
            <a:ext cx="3200400" cy="3200400"/>
          </a:xfrm>
          <a:prstGeom prst="ellipse">
            <a:avLst/>
          </a:prstGeom>
          <a:solidFill>
            <a:srgbClr val="4FC3F7">
              <a:alpha val="10000"/>
            </a:srgbClr>
          </a:solidFill>
          <a:ln w="12700">
            <a:solidFill>
              <a:srgbClr val="4FC3F7"/>
            </a:solidFill>
            <a:prstDash val="solid"/>
          </a:ln>
        </p:spPr>
        <p:txBody>
          <a:bodyPr/>
          <a:lstStyle/>
          <a:p>
            <a:endParaRPr lang="en-US"/>
          </a:p>
        </p:txBody>
      </p:sp>
      <p:sp>
        <p:nvSpPr>
          <p:cNvPr id="6" name="Shape 2"/>
          <p:cNvSpPr/>
          <p:nvPr/>
        </p:nvSpPr>
        <p:spPr>
          <a:xfrm>
            <a:off x="365760" y="1371600"/>
            <a:ext cx="3657600" cy="0"/>
          </a:xfrm>
          <a:prstGeom prst="line">
            <a:avLst/>
          </a:prstGeom>
          <a:noFill/>
          <a:ln w="19050">
            <a:solidFill>
              <a:srgbClr val="6C63FF"/>
            </a:solidFill>
            <a:prstDash val="solid"/>
          </a:ln>
        </p:spPr>
        <p:txBody>
          <a:bodyPr/>
          <a:lstStyle/>
          <a:p>
            <a:endParaRPr lang="en-US"/>
          </a:p>
        </p:txBody>
      </p:sp>
      <p:sp>
        <p:nvSpPr>
          <p:cNvPr id="7" name="Text 3"/>
          <p:cNvSpPr/>
          <p:nvPr/>
        </p:nvSpPr>
        <p:spPr>
          <a:xfrm>
            <a:off x="768096" y="320040"/>
            <a:ext cx="5084064" cy="685800"/>
          </a:xfrm>
          <a:prstGeom prst="rect">
            <a:avLst/>
          </a:prstGeom>
          <a:noFill/>
          <a:ln/>
        </p:spPr>
        <p:txBody>
          <a:bodyPr wrap="square" rtlCol="0" anchor="ctr"/>
          <a:lstStyle/>
          <a:p>
            <a:pPr marL="0" indent="0">
              <a:buNone/>
            </a:pPr>
            <a:r>
              <a:rPr lang="en-US" sz="3600" b="1" dirty="0">
                <a:solidFill>
                  <a:srgbClr val="F1F5FB"/>
                </a:solidFill>
                <a:latin typeface="Calibri" pitchFamily="34" charset="0"/>
                <a:ea typeface="Calibri" pitchFamily="34" charset="-122"/>
                <a:cs typeface="Calibri" pitchFamily="34" charset="-120"/>
              </a:rPr>
              <a:t>Conclusion</a:t>
            </a:r>
            <a:endParaRPr lang="en-US" sz="3600" dirty="0"/>
          </a:p>
        </p:txBody>
      </p:sp>
      <p:sp>
        <p:nvSpPr>
          <p:cNvPr id="8" name="Shape 4"/>
          <p:cNvSpPr/>
          <p:nvPr/>
        </p:nvSpPr>
        <p:spPr>
          <a:xfrm>
            <a:off x="365760" y="1508760"/>
            <a:ext cx="5303520" cy="868680"/>
          </a:xfrm>
          <a:prstGeom prst="roundRect">
            <a:avLst>
              <a:gd name="adj" fmla="val 8421"/>
            </a:avLst>
          </a:prstGeom>
          <a:solidFill>
            <a:srgbClr val="141B2D"/>
          </a:solidFill>
          <a:ln w="12700">
            <a:solidFill>
              <a:srgbClr val="6C63FF"/>
            </a:solidFill>
            <a:prstDash val="solid"/>
          </a:ln>
        </p:spPr>
        <p:txBody>
          <a:bodyPr/>
          <a:lstStyle/>
          <a:p>
            <a:endParaRPr lang="en-US"/>
          </a:p>
        </p:txBody>
      </p:sp>
      <p:sp>
        <p:nvSpPr>
          <p:cNvPr id="9" name="Text 5"/>
          <p:cNvSpPr/>
          <p:nvPr/>
        </p:nvSpPr>
        <p:spPr>
          <a:xfrm>
            <a:off x="594360" y="1581912"/>
            <a:ext cx="1828800" cy="329184"/>
          </a:xfrm>
          <a:prstGeom prst="rect">
            <a:avLst/>
          </a:prstGeom>
          <a:noFill/>
          <a:ln/>
        </p:spPr>
        <p:txBody>
          <a:bodyPr wrap="square" rtlCol="0" anchor="ctr"/>
          <a:lstStyle/>
          <a:p>
            <a:pPr marL="0" indent="0">
              <a:buNone/>
            </a:pPr>
            <a:r>
              <a:rPr lang="en-US" sz="1300" b="1" dirty="0">
                <a:solidFill>
                  <a:srgbClr val="6C63FF"/>
                </a:solidFill>
                <a:latin typeface="Calibri" pitchFamily="34" charset="0"/>
                <a:ea typeface="Calibri" pitchFamily="34" charset="-122"/>
                <a:cs typeface="Calibri" pitchFamily="34" charset="-120"/>
              </a:rPr>
              <a:t>Summary</a:t>
            </a:r>
            <a:endParaRPr lang="en-US" sz="1300" dirty="0"/>
          </a:p>
        </p:txBody>
      </p:sp>
      <p:sp>
        <p:nvSpPr>
          <p:cNvPr id="10" name="Text 6"/>
          <p:cNvSpPr/>
          <p:nvPr/>
        </p:nvSpPr>
        <p:spPr>
          <a:xfrm>
            <a:off x="594360" y="1920240"/>
            <a:ext cx="4754880" cy="320040"/>
          </a:xfrm>
          <a:prstGeom prst="rect">
            <a:avLst/>
          </a:prstGeom>
          <a:noFill/>
          <a:ln/>
        </p:spPr>
        <p:txBody>
          <a:bodyPr wrap="square" rtlCol="0" anchor="ctr"/>
          <a:lstStyle/>
          <a:p>
            <a:pPr algn="l"/>
            <a:r>
              <a:rPr lang="en-US" sz="1100" dirty="0">
                <a:solidFill>
                  <a:srgbClr val="8892A4"/>
                </a:solidFill>
                <a:latin typeface="Calibri" pitchFamily="34" charset="0"/>
                <a:ea typeface="Calibri" pitchFamily="34" charset="-122"/>
                <a:cs typeface="Calibri" pitchFamily="34" charset="-120"/>
              </a:rPr>
              <a:t>The team succeeded in executing two complete test cycles for the Booking.com platform, covering 215 test cases, 17 functional modules, manual and automated testing using Selenium, and documenting 7 verified bugs</a:t>
            </a:r>
          </a:p>
        </p:txBody>
      </p:sp>
      <p:sp>
        <p:nvSpPr>
          <p:cNvPr id="11" name="Shape 7"/>
          <p:cNvSpPr/>
          <p:nvPr/>
        </p:nvSpPr>
        <p:spPr>
          <a:xfrm>
            <a:off x="365760" y="2560320"/>
            <a:ext cx="5303520" cy="868680"/>
          </a:xfrm>
          <a:prstGeom prst="roundRect">
            <a:avLst>
              <a:gd name="adj" fmla="val 8421"/>
            </a:avLst>
          </a:prstGeom>
          <a:solidFill>
            <a:srgbClr val="141B2D"/>
          </a:solidFill>
          <a:ln w="12700">
            <a:solidFill>
              <a:srgbClr val="4FC3F7"/>
            </a:solidFill>
            <a:prstDash val="solid"/>
          </a:ln>
        </p:spPr>
        <p:txBody>
          <a:bodyPr/>
          <a:lstStyle/>
          <a:p>
            <a:endParaRPr lang="en-US" dirty="0"/>
          </a:p>
        </p:txBody>
      </p:sp>
      <p:sp>
        <p:nvSpPr>
          <p:cNvPr id="12" name="Text 8"/>
          <p:cNvSpPr/>
          <p:nvPr/>
        </p:nvSpPr>
        <p:spPr>
          <a:xfrm>
            <a:off x="594360" y="2633472"/>
            <a:ext cx="1828800" cy="329184"/>
          </a:xfrm>
          <a:prstGeom prst="rect">
            <a:avLst/>
          </a:prstGeom>
          <a:noFill/>
          <a:ln/>
        </p:spPr>
        <p:txBody>
          <a:bodyPr wrap="square" rtlCol="0" anchor="ctr"/>
          <a:lstStyle/>
          <a:p>
            <a:pPr marL="0" indent="0">
              <a:buNone/>
            </a:pPr>
            <a:r>
              <a:rPr lang="en-US" sz="1300" b="1" dirty="0">
                <a:solidFill>
                  <a:srgbClr val="4FC3F7"/>
                </a:solidFill>
                <a:latin typeface="Calibri" pitchFamily="34" charset="0"/>
                <a:ea typeface="Calibri" pitchFamily="34" charset="-122"/>
                <a:cs typeface="Calibri" pitchFamily="34" charset="-120"/>
              </a:rPr>
              <a:t>Learnings</a:t>
            </a:r>
            <a:endParaRPr lang="en-US" sz="1300" dirty="0"/>
          </a:p>
        </p:txBody>
      </p:sp>
      <p:sp>
        <p:nvSpPr>
          <p:cNvPr id="13" name="Text 9"/>
          <p:cNvSpPr/>
          <p:nvPr/>
        </p:nvSpPr>
        <p:spPr>
          <a:xfrm>
            <a:off x="594360" y="2971800"/>
            <a:ext cx="4754880" cy="320040"/>
          </a:xfrm>
          <a:prstGeom prst="rect">
            <a:avLst/>
          </a:prstGeom>
          <a:noFill/>
          <a:ln/>
        </p:spPr>
        <p:txBody>
          <a:bodyPr wrap="square" rtlCol="0" anchor="ctr"/>
          <a:lstStyle/>
          <a:p>
            <a:pPr algn="l"/>
            <a:r>
              <a:rPr lang="en-US" sz="1100" dirty="0">
                <a:solidFill>
                  <a:srgbClr val="8892A4"/>
                </a:solidFill>
                <a:latin typeface="Calibri" pitchFamily="34" charset="0"/>
                <a:ea typeface="Calibri" pitchFamily="34" charset="-122"/>
                <a:cs typeface="Calibri" pitchFamily="34" charset="-120"/>
              </a:rPr>
              <a:t>This project taught us how to work with real, complex platforms, and the importance of testing thoroughness and precision, with technical constraints like OTP, and building confidence through an organized team effort.</a:t>
            </a:r>
          </a:p>
        </p:txBody>
      </p:sp>
      <p:sp>
        <p:nvSpPr>
          <p:cNvPr id="14" name="Shape 10"/>
          <p:cNvSpPr/>
          <p:nvPr/>
        </p:nvSpPr>
        <p:spPr>
          <a:xfrm>
            <a:off x="365760" y="3611880"/>
            <a:ext cx="5303520" cy="868680"/>
          </a:xfrm>
          <a:prstGeom prst="roundRect">
            <a:avLst>
              <a:gd name="adj" fmla="val 8421"/>
            </a:avLst>
          </a:prstGeom>
          <a:solidFill>
            <a:srgbClr val="141B2D"/>
          </a:solidFill>
          <a:ln w="12700">
            <a:solidFill>
              <a:srgbClr val="00E676"/>
            </a:solidFill>
            <a:prstDash val="solid"/>
          </a:ln>
        </p:spPr>
        <p:txBody>
          <a:bodyPr/>
          <a:lstStyle/>
          <a:p>
            <a:endParaRPr lang="en-US"/>
          </a:p>
        </p:txBody>
      </p:sp>
      <p:sp>
        <p:nvSpPr>
          <p:cNvPr id="15" name="Text 11"/>
          <p:cNvSpPr/>
          <p:nvPr/>
        </p:nvSpPr>
        <p:spPr>
          <a:xfrm>
            <a:off x="594360" y="3685032"/>
            <a:ext cx="1828800" cy="329184"/>
          </a:xfrm>
          <a:prstGeom prst="rect">
            <a:avLst/>
          </a:prstGeom>
          <a:noFill/>
          <a:ln/>
        </p:spPr>
        <p:txBody>
          <a:bodyPr wrap="square" rtlCol="0" anchor="ctr"/>
          <a:lstStyle/>
          <a:p>
            <a:pPr marL="0" indent="0">
              <a:buNone/>
            </a:pPr>
            <a:r>
              <a:rPr lang="en-US" sz="1300" b="1" dirty="0">
                <a:solidFill>
                  <a:srgbClr val="00E676"/>
                </a:solidFill>
                <a:latin typeface="Calibri" pitchFamily="34" charset="0"/>
                <a:ea typeface="Calibri" pitchFamily="34" charset="-122"/>
                <a:cs typeface="Calibri" pitchFamily="34" charset="-120"/>
              </a:rPr>
              <a:t>Future Work</a:t>
            </a:r>
            <a:endParaRPr lang="en-US" sz="1300" dirty="0"/>
          </a:p>
        </p:txBody>
      </p:sp>
      <p:sp>
        <p:nvSpPr>
          <p:cNvPr id="16" name="Text 12"/>
          <p:cNvSpPr/>
          <p:nvPr/>
        </p:nvSpPr>
        <p:spPr>
          <a:xfrm>
            <a:off x="594360" y="4023360"/>
            <a:ext cx="4754880" cy="320040"/>
          </a:xfrm>
          <a:prstGeom prst="rect">
            <a:avLst/>
          </a:prstGeom>
          <a:noFill/>
          <a:ln/>
        </p:spPr>
        <p:txBody>
          <a:bodyPr wrap="square" rtlCol="0" anchor="ctr"/>
          <a:lstStyle/>
          <a:p>
            <a:pPr algn="l"/>
            <a:r>
              <a:rPr lang="en-US" sz="1100" dirty="0">
                <a:solidFill>
                  <a:srgbClr val="8892A4"/>
                </a:solidFill>
                <a:latin typeface="Calibri" pitchFamily="34" charset="0"/>
                <a:ea typeface="Calibri" pitchFamily="34" charset="-122"/>
                <a:cs typeface="Calibri" pitchFamily="34" charset="-120"/>
              </a:rPr>
              <a:t>Expanding automated test coverage, integrating with CI/CD, and adding cross-browser and cross-device testing layers.</a:t>
            </a:r>
            <a:r>
              <a:rPr lang="en-US" sz="1100" dirty="0"/>
              <a:t>.</a:t>
            </a:r>
            <a:endParaRPr lang="en-US" sz="1100" dirty="0">
              <a:solidFill>
                <a:srgbClr val="8892A4"/>
              </a:solidFill>
              <a:latin typeface="Calibri" pitchFamily="34" charset="0"/>
              <a:ea typeface="Calibri" pitchFamily="34" charset="-122"/>
              <a:cs typeface="Calibri" pitchFamily="34" charset="-120"/>
            </a:endParaRPr>
          </a:p>
        </p:txBody>
      </p:sp>
      <p:sp>
        <p:nvSpPr>
          <p:cNvPr id="17" name="Shape 13"/>
          <p:cNvSpPr/>
          <p:nvPr/>
        </p:nvSpPr>
        <p:spPr>
          <a:xfrm>
            <a:off x="5760720" y="1371600"/>
            <a:ext cx="3108960" cy="3474720"/>
          </a:xfrm>
          <a:prstGeom prst="roundRect">
            <a:avLst>
              <a:gd name="adj" fmla="val 3529"/>
            </a:avLst>
          </a:prstGeom>
          <a:solidFill>
            <a:srgbClr val="1A2340"/>
          </a:solidFill>
          <a:ln w="12700">
            <a:solidFill>
              <a:srgbClr val="6C63FF"/>
            </a:solidFill>
            <a:prstDash val="solid"/>
          </a:ln>
        </p:spPr>
        <p:txBody>
          <a:bodyPr/>
          <a:lstStyle/>
          <a:p>
            <a:endParaRPr lang="en-US"/>
          </a:p>
        </p:txBody>
      </p:sp>
      <p:sp>
        <p:nvSpPr>
          <p:cNvPr id="18" name="Text 14"/>
          <p:cNvSpPr/>
          <p:nvPr/>
        </p:nvSpPr>
        <p:spPr>
          <a:xfrm>
            <a:off x="5760720" y="1737360"/>
            <a:ext cx="3108960" cy="594360"/>
          </a:xfrm>
          <a:prstGeom prst="rect">
            <a:avLst/>
          </a:prstGeom>
          <a:noFill/>
          <a:ln/>
        </p:spPr>
        <p:txBody>
          <a:bodyPr wrap="square" rtlCol="0" anchor="ctr"/>
          <a:lstStyle/>
          <a:p>
            <a:pPr marL="0" indent="0" algn="ctr">
              <a:buNone/>
            </a:pPr>
            <a:r>
              <a:rPr lang="en-US" sz="3000" b="1" dirty="0">
                <a:solidFill>
                  <a:srgbClr val="F1F5FB"/>
                </a:solidFill>
                <a:latin typeface="Calibri" pitchFamily="34" charset="0"/>
                <a:ea typeface="Calibri" pitchFamily="34" charset="-122"/>
                <a:cs typeface="Calibri" pitchFamily="34" charset="-120"/>
              </a:rPr>
              <a:t>Thank</a:t>
            </a:r>
            <a:endParaRPr lang="en-US" sz="3000" dirty="0"/>
          </a:p>
        </p:txBody>
      </p:sp>
      <p:sp>
        <p:nvSpPr>
          <p:cNvPr id="19" name="Text 15"/>
          <p:cNvSpPr/>
          <p:nvPr/>
        </p:nvSpPr>
        <p:spPr>
          <a:xfrm>
            <a:off x="5760720" y="2286000"/>
            <a:ext cx="3108960" cy="594360"/>
          </a:xfrm>
          <a:prstGeom prst="rect">
            <a:avLst/>
          </a:prstGeom>
          <a:noFill/>
          <a:ln/>
        </p:spPr>
        <p:txBody>
          <a:bodyPr wrap="square" rtlCol="0" anchor="ctr"/>
          <a:lstStyle/>
          <a:p>
            <a:pPr marL="0" indent="0" algn="ctr">
              <a:buNone/>
            </a:pPr>
            <a:r>
              <a:rPr lang="en-US" sz="3000" b="1" dirty="0">
                <a:solidFill>
                  <a:srgbClr val="6C63FF"/>
                </a:solidFill>
                <a:latin typeface="Calibri" pitchFamily="34" charset="0"/>
                <a:ea typeface="Calibri" pitchFamily="34" charset="-122"/>
                <a:cs typeface="Calibri" pitchFamily="34" charset="-120"/>
              </a:rPr>
              <a:t>You!</a:t>
            </a:r>
            <a:endParaRPr lang="en-US" sz="3000" dirty="0"/>
          </a:p>
        </p:txBody>
      </p:sp>
      <p:sp>
        <p:nvSpPr>
          <p:cNvPr id="20" name="Shape 16"/>
          <p:cNvSpPr/>
          <p:nvPr/>
        </p:nvSpPr>
        <p:spPr>
          <a:xfrm>
            <a:off x="6217920" y="2971800"/>
            <a:ext cx="2194560" cy="0"/>
          </a:xfrm>
          <a:prstGeom prst="line">
            <a:avLst/>
          </a:prstGeom>
          <a:noFill/>
          <a:ln w="6350">
            <a:solidFill>
              <a:srgbClr val="1E2D4A"/>
            </a:solidFill>
            <a:prstDash val="solid"/>
          </a:ln>
        </p:spPr>
        <p:txBody>
          <a:bodyPr/>
          <a:lstStyle/>
          <a:p>
            <a:endParaRPr lang="en-US"/>
          </a:p>
        </p:txBody>
      </p:sp>
      <p:sp>
        <p:nvSpPr>
          <p:cNvPr id="21" name="Text 17"/>
          <p:cNvSpPr/>
          <p:nvPr/>
        </p:nvSpPr>
        <p:spPr>
          <a:xfrm>
            <a:off x="5760720" y="3154680"/>
            <a:ext cx="3108960" cy="731520"/>
          </a:xfrm>
          <a:prstGeom prst="rect">
            <a:avLst/>
          </a:prstGeom>
          <a:noFill/>
          <a:ln/>
        </p:spPr>
        <p:txBody>
          <a:bodyPr wrap="square" lIns="91440" tIns="45720" rIns="91440" bIns="45720" rtlCol="0" anchor="ctr"/>
          <a:lstStyle/>
          <a:p>
            <a:pPr algn="ctr"/>
            <a:r>
              <a:rPr lang="en-US" sz="1100">
                <a:solidFill>
                  <a:srgbClr val="8892A4"/>
                </a:solidFill>
                <a:latin typeface="Calibri"/>
                <a:ea typeface="Calibri"/>
                <a:cs typeface="Calibri"/>
              </a:rPr>
              <a:t>Malak Anwer— Team Leader</a:t>
            </a:r>
            <a:endParaRPr lang="en-US" sz="1100">
              <a:latin typeface="Calibri"/>
              <a:ea typeface="Calibri"/>
              <a:cs typeface="Calibri"/>
            </a:endParaRPr>
          </a:p>
          <a:p>
            <a:pPr marL="0" indent="0" algn="ctr">
              <a:buNone/>
            </a:pPr>
            <a:r>
              <a:rPr lang="en-US" sz="1100" dirty="0">
                <a:solidFill>
                  <a:srgbClr val="8892A4"/>
                </a:solidFill>
                <a:latin typeface="Calibri" pitchFamily="34" charset="0"/>
                <a:ea typeface="Calibri" pitchFamily="34" charset="-122"/>
                <a:cs typeface="Calibri" pitchFamily="34" charset="-120"/>
              </a:rPr>
              <a:t>ITC Graduation Project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128</TotalTime>
  <Words>661</Words>
  <Application>Microsoft Office PowerPoint</Application>
  <PresentationFormat>On-screen Show (16:9)</PresentationFormat>
  <Paragraphs>125</Paragraphs>
  <Slides>9</Slides>
  <Notes>9</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ITC Graduation Project</dc:title>
  <dc:subject>PptxGenJS Presentation</dc:subject>
  <dc:creator>PptxGenJS</dc:creator>
  <cp:lastModifiedBy>zeynab Abdeldayem</cp:lastModifiedBy>
  <cp:revision>41</cp:revision>
  <dcterms:created xsi:type="dcterms:W3CDTF">2026-06-22T16:21:38Z</dcterms:created>
  <dcterms:modified xsi:type="dcterms:W3CDTF">2026-06-29T14:27:32Z</dcterms:modified>
</cp:coreProperties>
</file>